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Megabytes</c:v>
                </c:pt>
              </c:strCache>
            </c:strRef>
          </c:tx>
          <c:spPr>
            <a:solidFill>
              <a:srgbClr val="01A88D"/>
            </a:solidFill>
          </c:spPr>
          <c:cat>
            <c:strRef>
              <c:f>Sheet1!$A$2:$A$5</c:f>
              <c:strCache>
                <c:ptCount val="4"/>
                <c:pt idx="0">
                  <c:v>raw/</c:v>
                </c:pt>
                <c:pt idx="1">
                  <c:v>parsed/</c:v>
                </c:pt>
                <c:pt idx="2">
                  <c:v>clean/</c:v>
                </c:pt>
                <c:pt idx="3">
                  <c:v>training/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109.5</c:v>
                </c:pt>
                <c:pt idx="1">
                  <c:v>115.6</c:v>
                </c:pt>
                <c:pt idx="2">
                  <c:v>273.7</c:v>
                </c:pt>
                <c:pt idx="3">
                  <c:v>85.6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B9C6CE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123597</c:v>
                </c:pt>
                <c:pt idx="1">
                  <c:v>246282</c:v>
                </c:pt>
                <c:pt idx="2">
                  <c:v>299832</c:v>
                </c:pt>
                <c:pt idx="3">
                  <c:v>199458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8AA3B0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161216</c:v>
                </c:pt>
                <c:pt idx="1">
                  <c:v>281036</c:v>
                </c:pt>
                <c:pt idx="2">
                  <c:v>339408</c:v>
                </c:pt>
                <c:pt idx="3">
                  <c:v>262611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01A88D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187151</c:v>
                </c:pt>
                <c:pt idx="1">
                  <c:v>354575</c:v>
                </c:pt>
                <c:pt idx="2">
                  <c:v>392106</c:v>
                </c:pt>
                <c:pt idx="3">
                  <c:v>286955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D05C17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192897</c:v>
                </c:pt>
                <c:pt idx="1">
                  <c:v>349795</c:v>
                </c:pt>
                <c:pt idx="2">
                  <c:v>445611</c:v>
                </c:pt>
                <c:pt idx="3">
                  <c:v>312850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1B2A41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196155</c:v>
                </c:pt>
                <c:pt idx="1">
                  <c:v>463776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attributed effect (mean |SHAP|)</c:v>
                </c:pt>
              </c:strCache>
            </c:strRef>
          </c:tx>
          <c:spPr>
            <a:solidFill>
              <a:srgbClr val="01A88D"/>
            </a:solidFill>
          </c:spPr>
          <c:cat>
            <c:strRef>
              <c:f>Sheet1!$A$2:$A$5</c:f>
              <c:strCache>
                <c:ptCount val="4"/>
                <c:pt idx="0">
                  <c:v>L1 full
(deliverable)</c:v>
                </c:pt>
                <c:pt idx="1">
                  <c:v>L1 no-lag
(VOID)</c:v>
                </c:pt>
                <c:pt idx="2">
                  <c:v>L2 full
(instrument)</c:v>
                </c:pt>
                <c:pt idx="3">
                  <c:v>L2 no-lag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0.11499</c:v>
                </c:pt>
                <c:pt idx="1">
                  <c:v>0.000664</c:v>
                </c:pt>
                <c:pt idx="2">
                  <c:v>0.479613</c:v>
                </c:pt>
                <c:pt idx="3">
                  <c:v>0.057477</c:v>
                </c:pt>
              </c:numCache>
            </c:numRef>
          </c:val>
        </c:ser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total effect (%)</c:v>
                </c:pt>
              </c:strCache>
            </c:strRef>
          </c:tx>
          <c:spPr>
            <a:solidFill>
              <a:srgbClr val="B9C6CE"/>
            </a:solidFill>
          </c:spPr>
          <c:dPt>
            <c:idx val="1"/>
            <c:spPr>
              <a:solidFill>
                <a:srgbClr val="D05C17"/>
              </a:solidFill>
            </c:spPr>
          </c:dPt>
          <c:dPt>
            <c:idx val="3"/>
            <c:spPr>
              <a:solidFill>
                <a:srgbClr val="D05C17"/>
              </a:solidFill>
            </c:spPr>
          </c:dPt>
          <c:cat>
            <c:strRef>
              <c:f>Sheet1!$A$2:$A$5</c:f>
              <c:strCache>
                <c:ptCount val="4"/>
                <c:pt idx="0">
                  <c:v>lag
(own recent history)</c:v>
                </c:pt>
                <c:pt idx="1">
                  <c:v>temporal
(hour, day, season)</c:v>
                </c:pt>
                <c:pt idx="2">
                  <c:v>station_static
(capacity)</c:v>
                </c:pt>
                <c:pt idx="3">
                  <c:v>weather
(9 variables)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57.5</c:v>
                </c:pt>
                <c:pt idx="1">
                  <c:v>24.4</c:v>
                </c:pt>
                <c:pt idx="2">
                  <c:v>12.6</c:v>
                </c:pt>
                <c:pt idx="3">
                  <c:v>5.4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solidFill>
                    <a:srgbClr val="1B2A41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on the reversal, not the pipeline: we measured weather at 0.4%, didn't believe it, and found the loss function was hiding the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short. The operator-actionability framing is what makes attribution the deliverable rather than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 the scope cuts here, early and explicitly, rather than letting someone notice their absence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Variety is genuine: columnar JSON, zipped CSV, and a reference table, each with a different access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chronological split is a correctness requirement, not a preference. Random splitting would leak future weather and future station behaviour.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why only 4 weather points: the reanalysis grid is ~11 km, so nearly every station shares a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fair to the draft: it was a reasonable design for streaming data. The data turned out not to be streaming.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detail with measured volumes is in docs/pretrained_model.drawio.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pre-empts 'why didn't you deploy it'. The answer is scope and cost, and the design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compromises, each with a stated cost. The pattern: every silent failure got a gate; every estimate got a caveat in metrics.json.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Anticipate: 'how do you know the data wasn't broken?' — the Athena variance query is the answer,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strongest material in the project. Lead the talk with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Expect 'isn't 5.4% just small?' — yes, and that IS the finding. The 4.5:1 ratio is more quotable than either number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reversal, not on the pipeline. Memorised numbers: 5.1M trips, 9.4M station-hours, MAE 0.5070 vs 0.5581, temporal 24.4% vs weather 5.4%.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3172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38000"/>
          </a:xfrm>
          <a:prstGeom prst="rect">
            <a:avLst/>
          </a:prstGeom>
          <a:solidFill>
            <a:srgbClr val="01A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1A88D"/>
                </a:solidFill>
                <a:latin typeface="Calibri"/>
              </a:rPr>
              <a:t>TEAM 7 ·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241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Effects of External Factors on Bicycle Station 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9C6CE"/>
                </a:solidFill>
                <a:latin typeface="Calibri"/>
              </a:rPr>
              <a:t>Indego Bikeshare, Philadelphia  ·  4.5 years  ·  9.4 M station-hours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67665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2A41"/>
                </a:solidFill>
                <a:latin typeface="Calibri"/>
              </a:rPr>
              <a:t>Qianyu Chen · Boxuan Chen · Tong Wu · Caleb Okoh-Aihe</a:t>
            </a:r>
          </a:p>
          <a:p>
            <a:pPr>
              <a:spcAft>
                <a:spcPts val="500"/>
              </a:spcAft>
            </a:pPr>
            <a:r>
              <a:rPr sz="600" b="0">
                <a:solidFill>
                  <a:srgbClr val="1B2A41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5A6C74"/>
                </a:solidFill>
                <a:latin typeface="Calibri"/>
              </a:rPr>
              <a:t>Deliverable:  SageMaker Model Registry package station-balance/1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5A6C74"/>
                </a:solidFill>
                <a:latin typeface="Calibri"/>
              </a:rPr>
              <a:t>Research output:  mean absolute SHAP per factor group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D05C17"/>
                </a:solidFill>
                <a:latin typeface="Calibri"/>
              </a:rPr>
              <a:t>Every figure in this deck is measured from the run of 2026-09-18.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743200"/>
            <a:ext cx="1325880" cy="932688"/>
          </a:xfrm>
          <a:prstGeom prst="round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500" b="1">
                <a:solidFill>
                  <a:srgbClr val="01A88D"/>
                </a:solidFill>
                <a:latin typeface="Calibri"/>
              </a:rPr>
              <a:t>5.1M</a:t>
            </a:r>
          </a:p>
          <a:p>
            <a:pPr algn="ctr"/>
            <a:r>
              <a:rPr sz="900">
                <a:solidFill>
                  <a:srgbClr val="5A6C74"/>
                </a:solidFill>
                <a:latin typeface="Calibri"/>
              </a:rPr>
              <a:t>trips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2743200"/>
            <a:ext cx="1325880" cy="932688"/>
          </a:xfrm>
          <a:prstGeom prst="round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500" b="1">
                <a:solidFill>
                  <a:srgbClr val="01A88D"/>
                </a:solidFill>
                <a:latin typeface="Calibri"/>
              </a:rPr>
              <a:t>354</a:t>
            </a:r>
          </a:p>
          <a:p>
            <a:pPr algn="ctr"/>
            <a:r>
              <a:rPr sz="900">
                <a:solidFill>
                  <a:srgbClr val="5A6C74"/>
                </a:solidFill>
                <a:latin typeface="Calibri"/>
              </a:rPr>
              <a:t>stations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89920" y="2743200"/>
            <a:ext cx="1325880" cy="932688"/>
          </a:xfrm>
          <a:prstGeom prst="round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500" b="1">
                <a:solidFill>
                  <a:srgbClr val="01A88D"/>
                </a:solidFill>
                <a:latin typeface="Calibri"/>
              </a:rPr>
              <a:t>22</a:t>
            </a:r>
          </a:p>
          <a:p>
            <a:pPr algn="ctr"/>
            <a:r>
              <a:rPr sz="900">
                <a:solidFill>
                  <a:srgbClr val="5A6C74"/>
                </a:solidFill>
                <a:latin typeface="Calibri"/>
              </a:rPr>
              <a:t>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3794760"/>
            <a:ext cx="1325880" cy="932688"/>
          </a:xfrm>
          <a:prstGeom prst="round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900" b="1">
                <a:solidFill>
                  <a:srgbClr val="277116"/>
                </a:solidFill>
                <a:latin typeface="Calibri"/>
              </a:rPr>
              <a:t>0.5070</a:t>
            </a:r>
          </a:p>
          <a:p>
            <a:pPr algn="ctr"/>
            <a:r>
              <a:rPr sz="900">
                <a:solidFill>
                  <a:srgbClr val="5A6C74"/>
                </a:solidFill>
                <a:latin typeface="Calibri"/>
              </a:rPr>
              <a:t>test MAE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3794760"/>
            <a:ext cx="1325880" cy="932688"/>
          </a:xfrm>
          <a:prstGeom prst="round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900" b="1">
                <a:solidFill>
                  <a:srgbClr val="D05C17"/>
                </a:solidFill>
                <a:latin typeface="Calibri"/>
              </a:rPr>
              <a:t>24.4%</a:t>
            </a:r>
          </a:p>
          <a:p>
            <a:pPr algn="ctr"/>
            <a:r>
              <a:rPr sz="900">
                <a:solidFill>
                  <a:srgbClr val="5A6C74"/>
                </a:solidFill>
                <a:latin typeface="Calibri"/>
              </a:rPr>
              <a:t>temporal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789920" y="3794760"/>
            <a:ext cx="1325880" cy="932688"/>
          </a:xfrm>
          <a:prstGeom prst="round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900" b="1">
                <a:solidFill>
                  <a:srgbClr val="D05C17"/>
                </a:solidFill>
                <a:latin typeface="Calibri"/>
              </a:rPr>
              <a:t>5.4%</a:t>
            </a:r>
          </a:p>
          <a:p>
            <a:pPr algn="ctr"/>
            <a:r>
              <a:rPr sz="900">
                <a:solidFill>
                  <a:srgbClr val="5A6C74"/>
                </a:solidFill>
                <a:latin typeface="Calibri"/>
              </a:rPr>
              <a:t>weather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550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>Team 7 · Indego Station Balance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35508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B2A41"/>
                </a:solidFill>
                <a:latin typeface="Calibri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41832"/>
            <a:ext cx="1005840" cy="26000"/>
          </a:xfrm>
          <a:prstGeom prst="rect">
            <a:avLst/>
          </a:prstGeom>
          <a:solidFill>
            <a:srgbClr val="01A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>Team 7 · Indego Station Balance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5349240" cy="868680"/>
          </a:xfrm>
          <a:prstGeom prst="round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3350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1A88D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316736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2A41"/>
                </a:solidFill>
                <a:latin typeface="Calibri"/>
              </a:rPr>
              <a:t>Motivation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61848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A6C74"/>
                </a:solidFill>
                <a:latin typeface="Calibri"/>
              </a:rPr>
              <a:t>Why stations empty 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88720"/>
            <a:ext cx="5349240" cy="868680"/>
          </a:xfrm>
          <a:prstGeom prst="round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3350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1A88D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316736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2A41"/>
                </a:solidFill>
                <a:latin typeface="Calibri"/>
              </a:rPr>
              <a:t>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61848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A6C74"/>
                </a:solidFill>
                <a:latin typeface="Calibri"/>
              </a:rPr>
              <a:t>What we set out to measure — and what changed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12848"/>
            <a:ext cx="5349240" cy="868680"/>
          </a:xfrm>
          <a:prstGeom prst="round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235915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1A88D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40864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2A41"/>
                </a:solidFill>
                <a:latin typeface="Calibri"/>
              </a:rP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2642616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A6C74"/>
                </a:solidFill>
                <a:latin typeface="Calibri"/>
              </a:rPr>
              <a:t>Volume, variety, schema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212848"/>
            <a:ext cx="5349240" cy="868680"/>
          </a:xfrm>
          <a:prstGeom prst="round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235915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1A88D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340864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2A41"/>
                </a:solidFill>
                <a:latin typeface="Calibri"/>
              </a:rPr>
              <a:t>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642616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A6C74"/>
                </a:solidFill>
                <a:latin typeface="Calibri"/>
              </a:rPr>
              <a:t>Before → After, and why it changed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236976"/>
            <a:ext cx="5349240" cy="868680"/>
          </a:xfrm>
          <a:prstGeom prst="round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38328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1A88D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36499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2A41"/>
                </a:solidFill>
                <a:latin typeface="Calibri"/>
              </a:rPr>
              <a:t>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3666744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A6C74"/>
                </a:solidFill>
                <a:latin typeface="Calibri"/>
              </a:rPr>
              <a:t>What each service is actually for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236976"/>
            <a:ext cx="5349240" cy="868680"/>
          </a:xfrm>
          <a:prstGeom prst="round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338328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1A88D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336499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2A41"/>
                </a:solidFill>
                <a:latin typeface="Calibri"/>
              </a:rPr>
              <a:t>Accommodations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3666744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A6C74"/>
                </a:solidFill>
                <a:latin typeface="Calibri"/>
              </a:rPr>
              <a:t>Six compromises the data forced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261104"/>
            <a:ext cx="5349240" cy="868680"/>
          </a:xfrm>
          <a:prstGeom prst="round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44074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1A88D"/>
                </a:solidFill>
                <a:latin typeface="Calibri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438912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2A41"/>
                </a:solidFill>
                <a:latin typeface="Calibri"/>
              </a:rPr>
              <a:t>Experiments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469087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A6C74"/>
                </a:solidFill>
                <a:latin typeface="Calibri"/>
              </a:rPr>
              <a:t>Four runs, one reversal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4261104"/>
            <a:ext cx="5349240" cy="868680"/>
          </a:xfrm>
          <a:prstGeom prst="round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44074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1A88D"/>
                </a:solidFill>
                <a:latin typeface="Calibri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438912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2A41"/>
                </a:solidFill>
                <a:latin typeface="Calibri"/>
              </a:rPr>
              <a:t>Results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469087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A6C74"/>
                </a:solidFill>
                <a:latin typeface="Calibri"/>
              </a:rPr>
              <a:t>The attribution, and the deliverable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1A88D"/>
                </a:solidFill>
                <a:latin typeface="Calibr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B2A41"/>
                </a:solidFill>
                <a:latin typeface="Calibri"/>
              </a:rPr>
              <a:t>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97864"/>
            <a:ext cx="1005840" cy="26000"/>
          </a:xfrm>
          <a:prstGeom prst="rect">
            <a:avLst/>
          </a:prstGeom>
          <a:solidFill>
            <a:srgbClr val="01A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>Team 7 · Indego Station 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63093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1B2A41"/>
                </a:solidFill>
                <a:latin typeface="Calibri"/>
              </a:rPr>
              <a:t>Philadelphia and Qucit algorithmically rebalance Indego — vans move bikes to keep docks neither empty nor full.</a:t>
            </a:r>
          </a:p>
          <a:p>
            <a:pPr>
              <a:spcAft>
                <a:spcPts val="500"/>
              </a:spcAft>
            </a:pPr>
            <a:r>
              <a:rPr sz="600" b="0">
                <a:solidFill>
                  <a:srgbClr val="1B2A41"/>
                </a:solidFill>
                <a:latin typeface="Calibri"/>
              </a:rPr>
              <a:t/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500" b="1">
                <a:solidFill>
                  <a:srgbClr val="C7341C"/>
                </a:solidFill>
                <a:latin typeface="Calibri"/>
              </a:rPr>
              <a:t>Riders still routinely arrive at an empty station.</a:t>
            </a:r>
          </a:p>
          <a:p>
            <a:pPr>
              <a:spcAft>
                <a:spcPts val="500"/>
              </a:spcAft>
            </a:pPr>
            <a:r>
              <a:rPr sz="800" b="0">
                <a:solidFill>
                  <a:srgbClr val="1B2A41"/>
                </a:solidFill>
                <a:latin typeface="Calibri"/>
              </a:rPr>
              <a:t/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300" b="0">
                <a:solidFill>
                  <a:srgbClr val="1B2A41"/>
                </a:solidFill>
                <a:latin typeface="Calibri"/>
              </a:rPr>
              <a:t>The rebalancing algorithm is proprietary. The failure mode is public: stations empty out in patterns.</a:t>
            </a:r>
          </a:p>
          <a:p>
            <a:pPr>
              <a:spcAft>
                <a:spcPts val="500"/>
              </a:spcAft>
            </a:pPr>
            <a:r>
              <a:rPr sz="600" b="0">
                <a:solidFill>
                  <a:srgbClr val="1B2A41"/>
                </a:solidFill>
                <a:latin typeface="Calibri"/>
              </a:rPr>
              <a:t/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300" b="0">
                <a:solidFill>
                  <a:srgbClr val="1B2A41"/>
                </a:solidFill>
                <a:latin typeface="Calibri"/>
              </a:rPr>
              <a:t>If those patterns track external factors — weather, time of day, day of week — then the information needed to anticipate a stockout exists before the stockout happens.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444752"/>
            <a:ext cx="4206240" cy="2286000"/>
          </a:xfrm>
          <a:prstGeom prst="round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700784"/>
            <a:ext cx="3657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1A88D"/>
                </a:solidFill>
                <a:latin typeface="Calibri"/>
              </a:rPr>
              <a:t>The question worth answering</a:t>
            </a:r>
          </a:p>
          <a:p>
            <a:pPr>
              <a:spcAft>
                <a:spcPts val="500"/>
              </a:spcAft>
            </a:pPr>
            <a:r>
              <a:rPr sz="400" b="0">
                <a:solidFill>
                  <a:srgbClr val="1B2A41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300" b="0">
                <a:solidFill>
                  <a:srgbClr val="1B2A41"/>
                </a:solidFill>
                <a:latin typeface="Calibri"/>
              </a:rPr>
              <a:t>Not "can we predict availability?"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300" b="1">
                <a:solidFill>
                  <a:srgbClr val="1B2A41"/>
                </a:solidFill>
                <a:latin typeface="Calibri"/>
              </a:rPr>
              <a:t>but HOW MUCH does each factor explain?</a:t>
            </a:r>
          </a:p>
          <a:p>
            <a:pPr>
              <a:spcAft>
                <a:spcPts val="500"/>
              </a:spcAft>
            </a:pPr>
            <a:r>
              <a:rPr sz="400" b="0">
                <a:solidFill>
                  <a:srgbClr val="1B2A41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50" b="0">
                <a:solidFill>
                  <a:srgbClr val="5A6C74"/>
                </a:solidFill>
                <a:latin typeface="Calibri"/>
              </a:rPr>
              <a:t>A model that predicts well but cannot say why tells an operator nothing they can act 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959352"/>
            <a:ext cx="4206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05C17"/>
                </a:solidFill>
                <a:latin typeface="Calibri"/>
              </a:rPr>
              <a:t>→  Attribution is the deliverable, not a by-product.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1A88D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B2A41"/>
                </a:solidFill>
                <a:latin typeface="Calibri"/>
              </a:rPr>
              <a:t>Objective — and what changed from the draft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97864"/>
            <a:ext cx="1005840" cy="26000"/>
          </a:xfrm>
          <a:prstGeom prst="rect">
            <a:avLst/>
          </a:prstGeom>
          <a:solidFill>
            <a:srgbClr val="01A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>Team 7 · Indego Station 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B2A41"/>
                </a:solidFill>
                <a:latin typeface="Calibri"/>
              </a:rPr>
              <a:t>Quantify the effect of external factors on dock availability, per station, per hour.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901952"/>
          <a:ext cx="10881358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2712"/>
                <a:gridCol w="2611526"/>
                <a:gridCol w="5767120"/>
              </a:tblGrid>
              <a:tr h="7543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Project draft</a:t>
                      </a:r>
                    </a:p>
                  </a:txBody>
                  <a:tcPr marL="64008" marR="64008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Delivered</a:t>
                      </a:r>
                    </a:p>
                  </a:txBody>
                  <a:tcPr marL="64008" marR="64008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64008" marR="64008" marT="18288" marB="18288" anchor="ctr">
                    <a:solidFill>
                      <a:srgbClr val="1B2A41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B2A41"/>
                          </a:solidFill>
                          <a:latin typeface="Calibri"/>
                        </a:rPr>
                        <a:t>Weather, commuter patterns,
STREET CLOSURES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B2A41"/>
                          </a:solidFill>
                          <a:latin typeface="Calibri"/>
                        </a:rPr>
                        <a:t>Weather, temporal.
Closure arm CUT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B2A41"/>
                          </a:solidFill>
                          <a:latin typeface="Calibri"/>
                        </a:rPr>
                        <a:t>PGW publishes closures as bare text addresses with no coordinates. Resolving ~108 K needs a street-name normaliser + centerline join that do not exist.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B2A41"/>
                          </a:solidFill>
                          <a:latin typeface="Calibri"/>
                        </a:rPr>
                        <a:t>Interactive Vue3 tool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B2A41"/>
                          </a:solidFill>
                          <a:latin typeface="Calibri"/>
                        </a:rPr>
                        <a:t>Model registered;
serving designed, not built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B2A41"/>
                          </a:solidFill>
                          <a:latin typeface="Calibri"/>
                        </a:rPr>
                        <a:t>The research question is answered by the attribution, not a UI. Serving adds an always-on cost profile.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B2A41"/>
                          </a:solidFill>
                          <a:latin typeface="Calibri"/>
                        </a:rPr>
                        <a:t>Kafka / Hadoop /
Spark-on-YARN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B2A41"/>
                          </a:solidFill>
                          <a:latin typeface="Calibri"/>
                        </a:rPr>
                        <a:t>S3 / EMR Serverless /
SageMaker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B2A41"/>
                          </a:solidFill>
                          <a:latin typeface="Calibri"/>
                        </a:rPr>
                        <a:t>Every input is a historical archive. There is no stream to consume.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5440680"/>
            <a:ext cx="10881360" cy="713232"/>
          </a:xfrm>
          <a:prstGeom prst="roundRect">
            <a:avLst/>
          </a:prstGeom>
          <a:solidFill>
            <a:srgbClr val="FD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59552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7341C"/>
                </a:solidFill>
                <a:latin typeface="Calibri"/>
              </a:rPr>
              <a:t>The closure arm is ABSENT, not zero — stated in features.yaml and in every metrics.json. A column of zeros would have looked like a measured non-effect. It is not 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1A88D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B2A41"/>
                </a:solidFill>
                <a:latin typeface="Calibri"/>
              </a:rPr>
              <a:t>Data — volume and variety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97864"/>
            <a:ext cx="1005840" cy="26000"/>
          </a:xfrm>
          <a:prstGeom prst="rect">
            <a:avLst/>
          </a:prstGeom>
          <a:solidFill>
            <a:srgbClr val="01A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>Team 7 · Indego Station 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44752"/>
            <a:ext cx="1691640" cy="932688"/>
          </a:xfrm>
          <a:prstGeom prst="round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01A88D"/>
                </a:solidFill>
                <a:latin typeface="Calibri"/>
              </a:rPr>
              <a:t>5,096,494</a:t>
            </a:r>
          </a:p>
          <a:p>
            <a:pPr algn="ctr"/>
            <a:r>
              <a:rPr sz="900">
                <a:solidFill>
                  <a:srgbClr val="5A6C74"/>
                </a:solidFill>
                <a:latin typeface="Calibri"/>
              </a:rPr>
              <a:t>trip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87168" y="1444752"/>
            <a:ext cx="1691640" cy="932688"/>
          </a:xfrm>
          <a:prstGeom prst="round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01A88D"/>
                </a:solidFill>
                <a:latin typeface="Calibri"/>
              </a:rPr>
              <a:t>9,443,782</a:t>
            </a:r>
          </a:p>
          <a:p>
            <a:pPr algn="ctr"/>
            <a:r>
              <a:rPr sz="900">
                <a:solidFill>
                  <a:srgbClr val="5A6C74"/>
                </a:solidFill>
                <a:latin typeface="Calibri"/>
              </a:rPr>
              <a:t>station-hours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444752"/>
            <a:ext cx="1691640" cy="932688"/>
          </a:xfrm>
          <a:prstGeom prst="round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>
                <a:solidFill>
                  <a:srgbClr val="01A88D"/>
                </a:solidFill>
                <a:latin typeface="Calibri"/>
              </a:rPr>
              <a:t>354</a:t>
            </a:r>
          </a:p>
          <a:p>
            <a:pPr algn="ctr"/>
            <a:r>
              <a:rPr sz="900">
                <a:solidFill>
                  <a:srgbClr val="5A6C74"/>
                </a:solidFill>
                <a:latin typeface="Calibri"/>
              </a:rPr>
              <a:t>stations modelled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444752"/>
            <a:ext cx="1691640" cy="932688"/>
          </a:xfrm>
          <a:prstGeom prst="round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900" b="1">
                <a:solidFill>
                  <a:srgbClr val="01A88D"/>
                </a:solidFill>
                <a:latin typeface="Calibri"/>
              </a:rPr>
              <a:t>4,633</a:t>
            </a:r>
          </a:p>
          <a:p>
            <a:pPr algn="ctr"/>
            <a:r>
              <a:rPr sz="900">
                <a:solidFill>
                  <a:srgbClr val="5A6C74"/>
                </a:solidFill>
                <a:latin typeface="Calibri"/>
              </a:rPr>
              <a:t>distinct bikes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1" y="1444752"/>
            <a:ext cx="1691640" cy="932688"/>
          </a:xfrm>
          <a:prstGeom prst="round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900" b="1">
                <a:solidFill>
                  <a:srgbClr val="01A88D"/>
                </a:solidFill>
                <a:latin typeface="Calibri"/>
              </a:rPr>
              <a:t>4.5 yrs</a:t>
            </a:r>
          </a:p>
          <a:p>
            <a:pPr algn="ctr"/>
            <a:r>
              <a:rPr sz="900">
                <a:solidFill>
                  <a:srgbClr val="5A6C74"/>
                </a:solidFill>
                <a:latin typeface="Calibri"/>
              </a:rPr>
              <a:t>2022-01 → 2026-07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0" y="1444752"/>
            <a:ext cx="1664208" cy="932688"/>
          </a:xfrm>
          <a:prstGeom prst="round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C7341C"/>
                </a:solidFill>
                <a:latin typeface="Calibri"/>
              </a:rPr>
              <a:t>65.0%</a:t>
            </a:r>
          </a:p>
          <a:p>
            <a:pPr algn="ctr"/>
            <a:r>
              <a:rPr sz="900">
                <a:solidFill>
                  <a:srgbClr val="5A6C74"/>
                </a:solidFill>
                <a:latin typeface="Calibri"/>
              </a:rPr>
              <a:t>net_flow =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334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2A41"/>
                </a:solidFill>
                <a:latin typeface="Calibri"/>
              </a:rPr>
              <a:t>Volume through the lake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40080" y="2926080"/>
          <a:ext cx="5394960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492240" y="263347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2A41"/>
                </a:solidFill>
                <a:latin typeface="Calibri"/>
              </a:rPr>
              <a:t>Three sources, three formats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492240" y="2926080"/>
          <a:ext cx="50292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1096"/>
                <a:gridCol w="1911096"/>
                <a:gridCol w="1207008"/>
              </a:tblGrid>
              <a:tr h="3200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64008" marR="64008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Format</a:t>
                      </a:r>
                    </a:p>
                  </a:txBody>
                  <a:tcPr marL="64008" marR="64008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Volume</a:t>
                      </a:r>
                    </a:p>
                  </a:txBody>
                  <a:tcPr marL="64008" marR="64008" marT="18288" marB="18288" anchor="ctr">
                    <a:solidFill>
                      <a:srgbClr val="1B2A41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Indego trip archives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18 quarterly ZIP → CSV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103 MB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Indego station table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1 CSV, 368 rows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15 KB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Open-Meteo archive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40 gzipped JSON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1.8 MB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→ training wide table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Parquet, 22 features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85.6 MB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492240" y="4690872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C74"/>
                </a:solidFill>
                <a:latin typeface="Calibri"/>
              </a:rPr>
              <a:t>103 MB of compressed archives becomes 9.4 million labelled station-hours — the expansion is the point, not the download size.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1A88D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B2A41"/>
                </a:solidFill>
                <a:latin typeface="Calibri"/>
              </a:rPr>
              <a:t>Data — seasonality is the signal the model must not cheat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97864"/>
            <a:ext cx="1005840" cy="26000"/>
          </a:xfrm>
          <a:prstGeom prst="rect">
            <a:avLst/>
          </a:prstGeom>
          <a:solidFill>
            <a:srgbClr val="01A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>Team 7 · Indego Station 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>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444752"/>
          <a:ext cx="7498079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503920" y="1444752"/>
            <a:ext cx="30175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2A41"/>
                </a:solidFill>
                <a:latin typeface="Calibri"/>
              </a:rPr>
              <a:t>Two trends in one chart</a:t>
            </a:r>
          </a:p>
          <a:p>
            <a:pPr>
              <a:spcAft>
                <a:spcPts val="500"/>
              </a:spcAft>
            </a:pPr>
            <a:r>
              <a:rPr sz="600" b="0">
                <a:solidFill>
                  <a:srgbClr val="1B2A41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00" b="0">
                <a:solidFill>
                  <a:srgbClr val="1B2A41"/>
                </a:solidFill>
                <a:latin typeface="Calibri"/>
              </a:rPr>
              <a:t>Q3 runs ~2.3× Q1 in every year — strong seasonality.</a:t>
            </a:r>
          </a:p>
          <a:p>
            <a:pPr>
              <a:spcAft>
                <a:spcPts val="500"/>
              </a:spcAft>
            </a:pPr>
            <a:r>
              <a:rPr sz="600" b="0">
                <a:solidFill>
                  <a:srgbClr val="1B2A41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00" b="0">
                <a:solidFill>
                  <a:srgbClr val="1B2A41"/>
                </a:solidFill>
                <a:latin typeface="Calibri"/>
              </a:rPr>
              <a:t>The network grew ~50% across the window.</a:t>
            </a:r>
          </a:p>
          <a:p>
            <a:pPr>
              <a:spcAft>
                <a:spcPts val="500"/>
              </a:spcAft>
            </a:pPr>
            <a:r>
              <a:rPr sz="1000" b="0">
                <a:solidFill>
                  <a:srgbClr val="1B2A41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C7341C"/>
                </a:solidFill>
                <a:latin typeface="Calibri"/>
              </a:rPr>
              <a:t>A random train/test split leaks both.</a:t>
            </a:r>
          </a:p>
          <a:p>
            <a:pPr>
              <a:spcAft>
                <a:spcPts val="500"/>
              </a:spcAft>
            </a:pPr>
            <a:r>
              <a:rPr sz="600" b="0">
                <a:solidFill>
                  <a:srgbClr val="1B2A41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50" b="0">
                <a:solidFill>
                  <a:srgbClr val="5A6C74"/>
                </a:solidFill>
                <a:latin typeface="Calibri"/>
              </a:rPr>
              <a:t>So the split is strictly chronological: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50" b="1">
                <a:solidFill>
                  <a:srgbClr val="1B2A41"/>
                </a:solidFill>
                <a:latin typeface="Calibri"/>
              </a:rPr>
              <a:t>train  2022-01 → 2025-06   6.86 M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50" b="1">
                <a:solidFill>
                  <a:srgbClr val="1B2A41"/>
                </a:solidFill>
                <a:latin typeface="Calibri"/>
              </a:rPr>
              <a:t>val    2025-06 → 2025-12   1.26 M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50" b="1">
                <a:solidFill>
                  <a:srgbClr val="1B2A41"/>
                </a:solidFill>
                <a:latin typeface="Calibri"/>
              </a:rPr>
              <a:t>test   2025-12 → 2026-06   1.31 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1A88D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B2A41"/>
                </a:solidFill>
                <a:latin typeface="Calibri"/>
              </a:rPr>
              <a:t>Data — the three schemas that matter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97864"/>
            <a:ext cx="1005840" cy="26000"/>
          </a:xfrm>
          <a:prstGeom prst="rect">
            <a:avLst/>
          </a:prstGeom>
          <a:solidFill>
            <a:srgbClr val="01A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>Team 7 · Indego Station 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44752"/>
            <a:ext cx="35204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44752"/>
            <a:ext cx="3520440" cy="384048"/>
          </a:xfrm>
          <a:prstGeom prst="rect">
            <a:avLst/>
          </a:prstGeom>
          <a:solidFill>
            <a:srgbClr val="01A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17904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Indego trip archive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3246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5A6C74"/>
                </a:solidFill>
                <a:latin typeface="Calibri"/>
              </a:rPr>
              <a:t>quarterly ZIP → CSV  ·  ~283 K rows/quarter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32461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1B2A41"/>
                </a:solidFill>
                <a:latin typeface="Consolas"/>
              </a:rPr>
              <a:t>trip_id          bigint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B2A41"/>
                </a:solidFill>
                <a:latin typeface="Consolas"/>
              </a:rPr>
              <a:t>duration_s       int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B2A41"/>
                </a:solidFill>
                <a:latin typeface="Consolas"/>
              </a:rPr>
              <a:t>start_time       timestamp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B2A41"/>
                </a:solidFill>
                <a:latin typeface="Consolas"/>
              </a:rPr>
              <a:t>end_time         timestamp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B2A41"/>
                </a:solidFill>
                <a:latin typeface="Consolas"/>
              </a:rPr>
              <a:t>start_station_id int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B2A41"/>
                </a:solidFill>
                <a:latin typeface="Consolas"/>
              </a:rPr>
              <a:t>end_station_id   int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B2A41"/>
                </a:solidFill>
                <a:latin typeface="Consolas"/>
              </a:rPr>
              <a:t>bike_id          string   ←  the join key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B2A41"/>
                </a:solidFill>
                <a:latin typeface="Consolas"/>
              </a:rPr>
              <a:t>bike_type        string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B2A41"/>
                </a:solidFill>
                <a:latin typeface="Consolas"/>
              </a:rPr>
              <a:t>passholder_type  string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45152"/>
            <a:ext cx="3246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A6C74"/>
                </a:solidFill>
                <a:latin typeface="Calibri"/>
              </a:rPr>
              <a:t>Schema DRIFTS across quarters. The mapping is explicit and asserted — an unrecognised schema stops the job.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1444752"/>
            <a:ext cx="35204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4256" y="1444752"/>
            <a:ext cx="3520440" cy="384048"/>
          </a:xfrm>
          <a:prstGeom prst="rect">
            <a:avLst/>
          </a:prstGeom>
          <a:solidFill>
            <a:srgbClr val="D05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1416" y="1517904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Open-Meteo archive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1920240"/>
            <a:ext cx="3246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5A6C74"/>
                </a:solidFill>
                <a:latin typeface="Calibri"/>
              </a:rPr>
              <a:t>gzipped JSON  ·  columnar, 4,392 hrs/file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2194560"/>
            <a:ext cx="32461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1B2A41"/>
                </a:solidFill>
                <a:latin typeface="Consolas"/>
              </a:rPr>
              <a:t>{ "hourly": {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B2A41"/>
                </a:solidFill>
                <a:latin typeface="Consolas"/>
              </a:rPr>
              <a:t>    "time":            [...],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B2A41"/>
                </a:solidFill>
                <a:latin typeface="Consolas"/>
              </a:rPr>
              <a:t>    "temperature_2m":  [9.8, ...],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B2A41"/>
                </a:solidFill>
                <a:latin typeface="Consolas"/>
              </a:rPr>
              <a:t>    "apparent_temperature": [...],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B2A41"/>
                </a:solidFill>
                <a:latin typeface="Consolas"/>
              </a:rPr>
              <a:t>    "precipitation":   [...],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B2A41"/>
                </a:solidFill>
                <a:latin typeface="Consolas"/>
              </a:rPr>
              <a:t>    "rain": [...],  "snowfall": [...],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B2A41"/>
                </a:solidFill>
                <a:latin typeface="Consolas"/>
              </a:rPr>
              <a:t>    "wind_speed_10m": [...],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B2A41"/>
                </a:solidFill>
                <a:latin typeface="Consolas"/>
              </a:rPr>
              <a:t>    "wind_gusts_10m": [...],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B2A41"/>
                </a:solidFill>
                <a:latin typeface="Consolas"/>
              </a:rPr>
              <a:t>    "cloud_cover": [...],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B2A41"/>
                </a:solidFill>
                <a:latin typeface="Consolas"/>
              </a:rPr>
              <a:t>    "relative_humidity_2m": [...] },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B2A41"/>
                </a:solidFill>
                <a:latin typeface="Consolas"/>
              </a:rPr>
              <a:t>  "daily": { "sunrise", "sunset" } 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1416" y="4645152"/>
            <a:ext cx="3246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A6C74"/>
                </a:solidFill>
                <a:latin typeface="Calibri"/>
              </a:rPr>
              <a:t>4 grid points, NOT 354. The reanalysis grid is ~11 km — per-station calls return identical data.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1444752"/>
            <a:ext cx="3511296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28431" y="1444752"/>
            <a:ext cx="3511296" cy="384048"/>
          </a:xfrm>
          <a:prstGeom prst="rect">
            <a:avLst/>
          </a:prstGeom>
          <a:solidFill>
            <a:srgbClr val="4D27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65591" y="1517904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Training wide 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5591" y="1920240"/>
            <a:ext cx="323697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5A6C74"/>
                </a:solidFill>
                <a:latin typeface="Calibri"/>
              </a:rPr>
              <a:t>Parquet  ·  9.43 M rows × 22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1" y="2194560"/>
            <a:ext cx="3236976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1B2A41"/>
                </a:solidFill>
                <a:latin typeface="Consolas"/>
              </a:rPr>
              <a:t>weather        9   temperature_2m,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B2A41"/>
                </a:solidFill>
                <a:latin typeface="Consolas"/>
              </a:rPr>
              <a:t>                   precipitation, rain,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B2A41"/>
                </a:solidFill>
                <a:latin typeface="Consolas"/>
              </a:rPr>
              <a:t>                   snowfall, wind, gusts,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B2A41"/>
                </a:solidFill>
                <a:latin typeface="Consolas"/>
              </a:rPr>
              <a:t>                   cloud, humidity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B2A41"/>
                </a:solidFill>
                <a:latin typeface="Consolas"/>
              </a:rPr>
              <a:t>temporal       8   hour_sin/cos, dow_sin/cos,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B2A41"/>
                </a:solidFill>
                <a:latin typeface="Consolas"/>
              </a:rPr>
              <a:t>                   is_weekend, is_holiday,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B2A41"/>
                </a:solidFill>
                <a:latin typeface="Consolas"/>
              </a:rPr>
              <a:t>                   is_daylight, month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B2A41"/>
                </a:solidFill>
                <a:latin typeface="Consolas"/>
              </a:rPr>
              <a:t>station_static 1   capacity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B2A41"/>
                </a:solidFill>
                <a:latin typeface="Consolas"/>
              </a:rPr>
              <a:t>lag            4   occupancy_lag_1h, ...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5591" y="4645152"/>
            <a:ext cx="32369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A6C74"/>
                </a:solidFill>
                <a:latin typeface="Calibri"/>
              </a:rPr>
              <a:t>Hour and day-of-week are sin/cos encoded so hour 23 and hour 0 are adjacent, not maximally distant.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1A88D"/>
                </a:solidFill>
                <a:latin typeface="Calibr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B2A41"/>
                </a:solidFill>
                <a:latin typeface="Calibri"/>
              </a:rPr>
              <a:t>Architecture — BEFORE (project draft)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97864"/>
            <a:ext cx="1005840" cy="26000"/>
          </a:xfrm>
          <a:prstGeom prst="rect">
            <a:avLst/>
          </a:prstGeom>
          <a:solidFill>
            <a:srgbClr val="01A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>Team 7 · Indego Station 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C74"/>
                </a:solidFill>
                <a:latin typeface="Calibri"/>
              </a:rPr>
              <a:t>Streaming ingest, a self-hosted distributed store, and an interactive front 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47672"/>
            <a:ext cx="1828800" cy="914400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8AA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1B2A41"/>
                </a:solidFill>
                <a:latin typeface="Calibri"/>
              </a:rPr>
              <a:t>Data Sources</a:t>
            </a:r>
          </a:p>
          <a:p>
            <a:pPr algn="ctr"/>
            <a:r>
              <a:rPr sz="800">
                <a:solidFill>
                  <a:srgbClr val="5A6C74"/>
                </a:solidFill>
                <a:latin typeface="Calibri"/>
              </a:rPr>
              <a:t>Indego API · Weather API
Closures · Events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947672"/>
            <a:ext cx="1828800" cy="914400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8AA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1B2A41"/>
                </a:solidFill>
                <a:latin typeface="Calibri"/>
              </a:rPr>
              <a:t>Kafka</a:t>
            </a:r>
          </a:p>
          <a:p>
            <a:pPr algn="ctr"/>
            <a:r>
              <a:rPr sz="800">
                <a:solidFill>
                  <a:srgbClr val="5A6C74"/>
                </a:solidFill>
                <a:latin typeface="Calibri"/>
              </a:rPr>
              <a:t>one topic per feed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68880" y="2404872.0"/>
            <a:ext cx="320040" cy="0.0"/>
          </a:xfrm>
          <a:prstGeom prst="line">
            <a:avLst/>
          </a:prstGeom>
          <a:ln w="15875">
            <a:solidFill>
              <a:srgbClr val="5A6C7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937760" y="1947672"/>
            <a:ext cx="1828800" cy="914400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8AA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1B2A41"/>
                </a:solidFill>
                <a:latin typeface="Calibri"/>
              </a:rPr>
              <a:t>Spark Streaming</a:t>
            </a:r>
          </a:p>
          <a:p>
            <a:pPr algn="ctr"/>
            <a:r>
              <a:rPr sz="800">
                <a:solidFill>
                  <a:srgbClr val="5A6C74"/>
                </a:solidFill>
                <a:latin typeface="Calibri"/>
              </a:rPr>
              <a:t>parse, derive metrics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617720" y="2404872.0"/>
            <a:ext cx="320040" cy="0.0"/>
          </a:xfrm>
          <a:prstGeom prst="line">
            <a:avLst/>
          </a:prstGeom>
          <a:ln w="15875">
            <a:solidFill>
              <a:srgbClr val="5A6C7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086600" y="1947672"/>
            <a:ext cx="1828800" cy="914400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8AA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1B2A41"/>
                </a:solidFill>
                <a:latin typeface="Calibri"/>
              </a:rPr>
              <a:t>Hadoop / HDFS</a:t>
            </a:r>
          </a:p>
          <a:p>
            <a:pPr algn="ctr"/>
            <a:r>
              <a:rPr sz="800">
                <a:solidFill>
                  <a:srgbClr val="5A6C74"/>
                </a:solidFill>
                <a:latin typeface="Calibri"/>
              </a:rPr>
              <a:t>distributed storage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766560" y="2404872.0"/>
            <a:ext cx="320040" cy="0.0"/>
          </a:xfrm>
          <a:prstGeom prst="line">
            <a:avLst/>
          </a:prstGeom>
          <a:ln w="15875">
            <a:solidFill>
              <a:srgbClr val="5A6C7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235440" y="1947672"/>
            <a:ext cx="1828800" cy="914400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8AA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1B2A41"/>
                </a:solidFill>
                <a:latin typeface="Calibri"/>
              </a:rPr>
              <a:t>Vue3 SPA</a:t>
            </a:r>
          </a:p>
          <a:p>
            <a:pPr algn="ctr"/>
            <a:r>
              <a:rPr sz="800">
                <a:solidFill>
                  <a:srgbClr val="5A6C74"/>
                </a:solidFill>
                <a:latin typeface="Calibri"/>
              </a:rPr>
              <a:t>interactive visualisation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15400" y="2404872.0"/>
            <a:ext cx="320040" cy="0.0"/>
          </a:xfrm>
          <a:prstGeom prst="line">
            <a:avLst/>
          </a:prstGeom>
          <a:ln w="15875">
            <a:solidFill>
              <a:srgbClr val="5A6C7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309067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A6C74"/>
                </a:solidFill>
                <a:latin typeface="Calibri"/>
              </a:rPr>
              <a:t>Three factors: weather · commuter patterns · street closures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57600"/>
            <a:ext cx="10881360" cy="2286000"/>
          </a:xfrm>
          <a:prstGeom prst="roundRect">
            <a:avLst/>
          </a:prstGeom>
          <a:solidFill>
            <a:srgbClr val="FD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40480"/>
            <a:ext cx="103327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7341C"/>
                </a:solidFill>
                <a:latin typeface="Calibri"/>
              </a:rPr>
              <a:t>What was wrong with it — every component assumed a stream</a:t>
            </a:r>
          </a:p>
          <a:p>
            <a:pPr>
              <a:spcAft>
                <a:spcPts val="500"/>
              </a:spcAft>
            </a:pPr>
            <a:r>
              <a:rPr sz="600" b="0">
                <a:solidFill>
                  <a:srgbClr val="1B2A41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00" b="0">
                <a:solidFill>
                  <a:srgbClr val="1B2A41"/>
                </a:solidFill>
                <a:latin typeface="Calibri"/>
              </a:rPr>
              <a:t>•  Kafka decouples producers from consumers in a STREAM. Every input here is a quarterly ZIP, downloaded once. There is no stream to consume.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00" b="0">
                <a:solidFill>
                  <a:srgbClr val="1B2A41"/>
                </a:solidFill>
                <a:latin typeface="Calibri"/>
              </a:rPr>
              <a:t>•  Hadoop/HDFS means operating a cluster — effort spent on infrastructure rather than on the research question. The one stage that genuinely needs distribution runs fine serverless.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00" b="0">
                <a:solidFill>
                  <a:srgbClr val="1B2A41"/>
                </a:solidFill>
                <a:latin typeface="Calibri"/>
              </a:rPr>
              <a:t>•  A Vue3 SPA answers "what will happen?". The research question is "how much does each factor explain?" — that is answered by attribution, not a UI.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1A88D"/>
                </a:solidFill>
                <a:latin typeface="Calibr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B2A41"/>
                </a:solidFill>
                <a:latin typeface="Calibri"/>
              </a:rPr>
              <a:t>Architecture — AFTER (built and deployed)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97864"/>
            <a:ext cx="1005840" cy="26000"/>
          </a:xfrm>
          <a:prstGeom prst="rect">
            <a:avLst/>
          </a:prstGeom>
          <a:solidFill>
            <a:srgbClr val="01A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>Team 7 · Indego Station 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A6C74"/>
                </a:solidFill>
                <a:latin typeface="Calibri"/>
              </a:rPr>
              <a:t>Batch, attended, scales to zero. Figures measured from the run of 2026-09-18.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1952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01A88D"/>
                </a:solidFill>
                <a:latin typeface="Calibri"/>
              </a:rPr>
              <a:t>HISTORICAL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901952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01A88D"/>
                </a:solidFill>
                <a:latin typeface="Calibri"/>
              </a:rPr>
              <a:t>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901952"/>
            <a:ext cx="1554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01A88D"/>
                </a:solidFill>
                <a:latin typeface="Calibri"/>
              </a:rPr>
              <a:t>S3 DATA LAKE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901952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01A88D"/>
                </a:solidFill>
                <a:latin typeface="Calibri"/>
              </a:rPr>
              <a:t>EMR SERVERLESS  ·  phases 1-5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1901952"/>
            <a:ext cx="2011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01A88D"/>
                </a:solidFill>
                <a:latin typeface="Calibri"/>
              </a:rPr>
              <a:t>SAGEMAKER  ·  phase 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176272"/>
            <a:ext cx="1828800" cy="566928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5A6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1B2A41"/>
                </a:solidFill>
                <a:latin typeface="Calibri"/>
              </a:rPr>
              <a:t>Trip archives</a:t>
            </a:r>
          </a:p>
          <a:p>
            <a:pPr algn="ctr"/>
            <a:r>
              <a:rPr sz="800">
                <a:solidFill>
                  <a:srgbClr val="5A6C74"/>
                </a:solidFill>
                <a:latin typeface="Calibri"/>
              </a:rPr>
              <a:t>18 ZIP · 103 MB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34640"/>
            <a:ext cx="1828800" cy="566928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5A6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1B2A41"/>
                </a:solidFill>
                <a:latin typeface="Calibri"/>
              </a:rPr>
              <a:t>Station table</a:t>
            </a:r>
          </a:p>
          <a:p>
            <a:pPr algn="ctr"/>
            <a:r>
              <a:rPr sz="800">
                <a:solidFill>
                  <a:srgbClr val="5A6C74"/>
                </a:solidFill>
                <a:latin typeface="Calibri"/>
              </a:rPr>
              <a:t>1 CSV · 368 rows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93008"/>
            <a:ext cx="1828800" cy="566928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5A6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1B2A41"/>
                </a:solidFill>
                <a:latin typeface="Calibri"/>
              </a:rPr>
              <a:t>Open-Meteo</a:t>
            </a:r>
          </a:p>
          <a:p>
            <a:pPr algn="ctr"/>
            <a:r>
              <a:rPr sz="800">
                <a:solidFill>
                  <a:srgbClr val="5A6C74"/>
                </a:solidFill>
                <a:latin typeface="Calibri"/>
              </a:rPr>
              <a:t>40 JSON · 4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97480" y="2834640"/>
            <a:ext cx="1371600" cy="566928"/>
          </a:xfrm>
          <a:prstGeom prst="roundRect">
            <a:avLst/>
          </a:prstGeom>
          <a:solidFill>
            <a:srgbClr val="FDEBDD"/>
          </a:solidFill>
          <a:ln w="12700">
            <a:solidFill>
              <a:srgbClr val="D05C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1B2A41"/>
                </a:solidFill>
                <a:latin typeface="Calibri"/>
              </a:rPr>
              <a:t>Lambda</a:t>
            </a:r>
          </a:p>
          <a:p>
            <a:pPr algn="ctr"/>
            <a:r>
              <a:rPr sz="800">
                <a:solidFill>
                  <a:srgbClr val="5A6C74"/>
                </a:solidFill>
                <a:latin typeface="Calibri"/>
              </a:rPr>
              <a:t>3 ingest tasks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2176272"/>
            <a:ext cx="1554480" cy="566928"/>
          </a:xfrm>
          <a:prstGeom prst="roundRect">
            <a:avLst/>
          </a:prstGeom>
          <a:solidFill>
            <a:srgbClr val="E8F4E4"/>
          </a:solidFill>
          <a:ln w="12700">
            <a:solidFill>
              <a:srgbClr val="2771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1B2A41"/>
                </a:solidFill>
                <a:latin typeface="Calibri"/>
              </a:rPr>
              <a:t>raw/</a:t>
            </a:r>
          </a:p>
          <a:p>
            <a:pPr algn="ctr"/>
            <a:r>
              <a:rPr sz="800">
                <a:solidFill>
                  <a:srgbClr val="5A6C74"/>
                </a:solidFill>
                <a:latin typeface="Calibri"/>
              </a:rPr>
              <a:t>109 MB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2834640"/>
            <a:ext cx="1554480" cy="566928"/>
          </a:xfrm>
          <a:prstGeom prst="roundRect">
            <a:avLst/>
          </a:prstGeom>
          <a:solidFill>
            <a:srgbClr val="E8F4E4"/>
          </a:solidFill>
          <a:ln w="12700">
            <a:solidFill>
              <a:srgbClr val="2771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1B2A41"/>
                </a:solidFill>
                <a:latin typeface="Calibri"/>
              </a:rPr>
              <a:t>parsed/</a:t>
            </a:r>
          </a:p>
          <a:p>
            <a:pPr algn="ctr"/>
            <a:r>
              <a:rPr sz="800">
                <a:solidFill>
                  <a:srgbClr val="5A6C74"/>
                </a:solidFill>
                <a:latin typeface="Calibri"/>
              </a:rPr>
              <a:t>116 MB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493008"/>
            <a:ext cx="1554480" cy="566928"/>
          </a:xfrm>
          <a:prstGeom prst="roundRect">
            <a:avLst/>
          </a:prstGeom>
          <a:solidFill>
            <a:srgbClr val="E8F4E4"/>
          </a:solidFill>
          <a:ln w="12700">
            <a:solidFill>
              <a:srgbClr val="2771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1B2A41"/>
                </a:solidFill>
                <a:latin typeface="Calibri"/>
              </a:rPr>
              <a:t>clean/</a:t>
            </a:r>
          </a:p>
          <a:p>
            <a:pPr algn="ctr"/>
            <a:r>
              <a:rPr sz="800">
                <a:solidFill>
                  <a:srgbClr val="5A6C74"/>
                </a:solidFill>
                <a:latin typeface="Calibri"/>
              </a:rPr>
              <a:t>274 MB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2176272"/>
            <a:ext cx="1554480" cy="566928"/>
          </a:xfrm>
          <a:prstGeom prst="roundRect">
            <a:avLst/>
          </a:prstGeom>
          <a:solidFill>
            <a:srgbClr val="FDEBDD"/>
          </a:solidFill>
          <a:ln w="12700">
            <a:solidFill>
              <a:srgbClr val="D05C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1">
                <a:solidFill>
                  <a:srgbClr val="1B2A41"/>
                </a:solidFill>
                <a:latin typeface="Calibri"/>
              </a:rPr>
              <a:t>1 · Land</a:t>
            </a:r>
          </a:p>
          <a:p>
            <a:pPr algn="ctr"/>
            <a:r>
              <a:rPr sz="750">
                <a:solidFill>
                  <a:srgbClr val="5A6C74"/>
                </a:solidFill>
                <a:latin typeface="Calibri"/>
              </a:rPr>
              <a:t>→ Parquet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80" y="2176272"/>
            <a:ext cx="1554480" cy="566928"/>
          </a:xfrm>
          <a:prstGeom prst="roundRect">
            <a:avLst/>
          </a:prstGeom>
          <a:solidFill>
            <a:srgbClr val="FDEBDD"/>
          </a:solidFill>
          <a:ln w="12700">
            <a:solidFill>
              <a:srgbClr val="D05C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1">
                <a:solidFill>
                  <a:srgbClr val="1B2A41"/>
                </a:solidFill>
                <a:latin typeface="Calibri"/>
              </a:rPr>
              <a:t>2 · Conform</a:t>
            </a:r>
          </a:p>
          <a:p>
            <a:pPr algn="ctr"/>
            <a:r>
              <a:rPr sz="750">
                <a:solidFill>
                  <a:srgbClr val="5A6C74"/>
                </a:solidFill>
                <a:latin typeface="Calibri"/>
              </a:rPr>
              <a:t>tz, filter, dedupe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60" y="2834640"/>
            <a:ext cx="1554480" cy="566928"/>
          </a:xfrm>
          <a:prstGeom prst="roundRect">
            <a:avLst/>
          </a:prstGeom>
          <a:solidFill>
            <a:srgbClr val="FDEBDD"/>
          </a:solidFill>
          <a:ln w="12700">
            <a:solidFill>
              <a:srgbClr val="D05C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1">
                <a:solidFill>
                  <a:srgbClr val="1B2A41"/>
                </a:solidFill>
                <a:latin typeface="Calibri"/>
              </a:rPr>
              <a:t>3 · Labels</a:t>
            </a:r>
          </a:p>
          <a:p>
            <a:pPr algn="ctr"/>
            <a:r>
              <a:rPr sz="750">
                <a:solidFill>
                  <a:srgbClr val="5A6C74"/>
                </a:solidFill>
                <a:latin typeface="Calibri"/>
              </a:rPr>
              <a:t>ledger → net_flow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6680" y="2834640"/>
            <a:ext cx="1554480" cy="566928"/>
          </a:xfrm>
          <a:prstGeom prst="roundRect">
            <a:avLst/>
          </a:prstGeom>
          <a:solidFill>
            <a:srgbClr val="FDEBDD"/>
          </a:solidFill>
          <a:ln w="12700">
            <a:solidFill>
              <a:srgbClr val="D05C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1">
                <a:solidFill>
                  <a:srgbClr val="1B2A41"/>
                </a:solidFill>
                <a:latin typeface="Calibri"/>
              </a:rPr>
              <a:t>4 · Features</a:t>
            </a:r>
          </a:p>
          <a:p>
            <a:pPr algn="ctr"/>
            <a:r>
              <a:rPr sz="750">
                <a:solidFill>
                  <a:srgbClr val="5A6C74"/>
                </a:solidFill>
                <a:latin typeface="Calibri"/>
              </a:rPr>
              <a:t>weather, calendar, lags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3493008"/>
            <a:ext cx="3200400" cy="566928"/>
          </a:xfrm>
          <a:prstGeom prst="roundRect">
            <a:avLst/>
          </a:prstGeom>
          <a:solidFill>
            <a:srgbClr val="FDEBDD"/>
          </a:solidFill>
          <a:ln w="12700">
            <a:solidFill>
              <a:srgbClr val="D05C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1">
                <a:solidFill>
                  <a:srgbClr val="1B2A41"/>
                </a:solidFill>
                <a:latin typeface="Calibri"/>
              </a:rPr>
              <a:t>5 · Assembly</a:t>
            </a:r>
          </a:p>
          <a:p>
            <a:pPr algn="ctr"/>
            <a:r>
              <a:rPr sz="750">
                <a:solidFill>
                  <a:srgbClr val="5A6C74"/>
                </a:solidFill>
                <a:latin typeface="Calibri"/>
              </a:rPr>
              <a:t>wide table · chronological split · 9.43 M rows × 22 features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0" y="2176272"/>
            <a:ext cx="2011680" cy="566928"/>
          </a:xfrm>
          <a:prstGeom prst="roundRect">
            <a:avLst/>
          </a:prstGeom>
          <a:solidFill>
            <a:srgbClr val="E8F4E4"/>
          </a:solidFill>
          <a:ln w="12700">
            <a:solidFill>
              <a:srgbClr val="2771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1">
                <a:solidFill>
                  <a:srgbClr val="1B2A41"/>
                </a:solidFill>
                <a:latin typeface="Calibri"/>
              </a:rPr>
              <a:t>Training splits</a:t>
            </a:r>
          </a:p>
          <a:p>
            <a:pPr algn="ctr"/>
            <a:r>
              <a:rPr sz="750">
                <a:solidFill>
                  <a:srgbClr val="5A6C74"/>
                </a:solidFill>
                <a:latin typeface="Calibri"/>
              </a:rPr>
              <a:t>6.86 M / 1.26 M / 1.31 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09760" y="2834640"/>
            <a:ext cx="2011680" cy="566928"/>
          </a:xfrm>
          <a:prstGeom prst="roundRect">
            <a:avLst/>
          </a:prstGeom>
          <a:solidFill>
            <a:srgbClr val="E0F5F1"/>
          </a:solidFill>
          <a:ln w="12700">
            <a:solidFill>
              <a:srgbClr val="01A8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1">
                <a:solidFill>
                  <a:srgbClr val="1B2A41"/>
                </a:solidFill>
                <a:latin typeface="Calibri"/>
              </a:rPr>
              <a:t>SageMaker Processing</a:t>
            </a:r>
          </a:p>
          <a:p>
            <a:pPr algn="ctr"/>
            <a:r>
              <a:rPr sz="750">
                <a:solidFill>
                  <a:srgbClr val="5A6C74"/>
                </a:solidFill>
                <a:latin typeface="Calibri"/>
              </a:rPr>
              <a:t>LightGBM · ml.t3.xlarge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0" y="3493008"/>
            <a:ext cx="2011680" cy="566928"/>
          </a:xfrm>
          <a:prstGeom prst="roundRect">
            <a:avLst/>
          </a:prstGeom>
          <a:solidFill>
            <a:srgbClr val="E0F5F1"/>
          </a:solidFill>
          <a:ln w="12700">
            <a:solidFill>
              <a:srgbClr val="01A8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1">
                <a:solidFill>
                  <a:srgbClr val="1B2A41"/>
                </a:solidFill>
                <a:latin typeface="Calibri"/>
              </a:rPr>
              <a:t>Model Registry</a:t>
            </a:r>
          </a:p>
          <a:p>
            <a:pPr algn="ctr"/>
            <a:r>
              <a:rPr sz="750">
                <a:solidFill>
                  <a:srgbClr val="5A6C74"/>
                </a:solidFill>
                <a:latin typeface="Calibri"/>
              </a:rPr>
              <a:t>station-balance/1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68880" y="3118104"/>
            <a:ext cx="228600" cy="0"/>
          </a:xfrm>
          <a:prstGeom prst="line">
            <a:avLst/>
          </a:prstGeom>
          <a:ln w="15875">
            <a:solidFill>
              <a:srgbClr val="5A6C7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069080" y="3118104"/>
            <a:ext cx="228600" cy="0"/>
          </a:xfrm>
          <a:prstGeom prst="line">
            <a:avLst/>
          </a:prstGeom>
          <a:ln w="15875">
            <a:solidFill>
              <a:srgbClr val="5A6C7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852160" y="3118104"/>
            <a:ext cx="228600" cy="0"/>
          </a:xfrm>
          <a:prstGeom prst="line">
            <a:avLst/>
          </a:prstGeom>
          <a:ln w="15875">
            <a:solidFill>
              <a:srgbClr val="5A6C7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281160" y="3118104"/>
            <a:ext cx="228600" cy="0"/>
          </a:xfrm>
          <a:prstGeom prst="line">
            <a:avLst/>
          </a:prstGeom>
          <a:ln w="15875">
            <a:solidFill>
              <a:srgbClr val="5A6C7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40080" y="4325112"/>
            <a:ext cx="10881360" cy="658368"/>
          </a:xfrm>
          <a:prstGeom prst="roundRect">
            <a:avLst/>
          </a:prstGeom>
          <a:solidFill>
            <a:srgbClr val="FD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437997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C7341C"/>
                </a:solidFill>
                <a:latin typeface="Calibri"/>
              </a:rPr>
              <a:t>GATES — all passed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4379976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1B2A41"/>
                </a:solidFill>
                <a:latin typeface="Calibri"/>
              </a:rPr>
              <a:t>2.2  timestamp parse 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4379976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1B2A41"/>
                </a:solidFill>
                <a:latin typeface="Calibri"/>
              </a:rPr>
              <a:t>3.2/3.3  recovery test (on cluster)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379976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1B2A41"/>
                </a:solidFill>
                <a:latin typeface="Calibri"/>
              </a:rPr>
              <a:t>4.8  leakage audit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4379976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1B2A41"/>
                </a:solidFill>
                <a:latin typeface="Calibri"/>
              </a:rPr>
              <a:t>5.2  chronological split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4379976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1B2A41"/>
                </a:solidFill>
                <a:latin typeface="Calibri"/>
              </a:rPr>
              <a:t>6.1  beats baseline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4672584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A6C74"/>
                </a:solidFill>
                <a:latin typeface="Calibri"/>
              </a:rPr>
              <a:t>each hard-fails the job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5A6C74"/>
                </a:solidFill>
                <a:latin typeface="Calibri"/>
              </a:rPr>
              <a:t>Nothing runs on a schedule — zero EventBridge rules, asserted by scripts/00_preflight.sh. EMR idles to zero in 15 min; cost at rest is S3 storage only.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1A88D"/>
                </a:solidFill>
                <a:latin typeface="Calibr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B2A41"/>
                </a:solidFill>
                <a:latin typeface="Calibri"/>
              </a:rPr>
              <a:t>Architecture — the serving path we designed and did NOT build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97864"/>
            <a:ext cx="1005840" cy="26000"/>
          </a:xfrm>
          <a:prstGeom prst="rect">
            <a:avLst/>
          </a:prstGeom>
          <a:solidFill>
            <a:srgbClr val="01A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>Team 7 · Indego Station 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B2A41"/>
                </a:solidFill>
                <a:latin typeface="Calibri"/>
              </a:rPr>
              <a:t>The Model Registry is the ONLY link between the built pipeline and this design. That is what makes the model portable.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04872"/>
            <a:ext cx="2103120" cy="914400"/>
          </a:xfrm>
          <a:prstGeom prst="roundRect">
            <a:avLst/>
          </a:prstGeom>
          <a:solidFill>
            <a:srgbClr val="E0F5F1"/>
          </a:solidFill>
          <a:ln w="12700">
            <a:solidFill>
              <a:srgbClr val="01A8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B2A41"/>
                </a:solidFill>
                <a:latin typeface="Calibri"/>
              </a:rPr>
              <a:t>Model Registry</a:t>
            </a:r>
          </a:p>
          <a:p>
            <a:pPr algn="ctr"/>
            <a:r>
              <a:rPr sz="800">
                <a:solidFill>
                  <a:srgbClr val="5A6C74"/>
                </a:solidFill>
                <a:latin typeface="Calibri"/>
              </a:rPr>
              <a:t>station-balance/1
model + features.json
THE HANDOFF — 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10712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>Everything right of this box is design. Everything left of it, in the other diagram, is deployed.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947672"/>
            <a:ext cx="2103120" cy="777240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5A6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B2A41"/>
                </a:solidFill>
                <a:latin typeface="Calibri"/>
              </a:rPr>
              <a:t>GBFS station_status</a:t>
            </a:r>
          </a:p>
          <a:p>
            <a:pPr algn="ctr"/>
            <a:r>
              <a:rPr sz="750">
                <a:solidFill>
                  <a:srgbClr val="5A6C74"/>
                </a:solidFill>
                <a:latin typeface="Calibri"/>
              </a:rPr>
              <a:t>live dock counts — supplies
ONLY the constant O(s,t₀)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2862072"/>
            <a:ext cx="2103120" cy="777240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5A6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B2A41"/>
                </a:solidFill>
                <a:latin typeface="Calibri"/>
              </a:rPr>
              <a:t>Open-Meteo Forecast</a:t>
            </a:r>
          </a:p>
          <a:p>
            <a:pPr algn="ctr"/>
            <a:r>
              <a:rPr sz="750">
                <a:solidFill>
                  <a:srgbClr val="5A6C74"/>
                </a:solidFill>
                <a:latin typeface="Calibri"/>
              </a:rPr>
              <a:t>live — SAME 9 variables
in the SAME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2404872"/>
            <a:ext cx="1325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6C7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1">
                <a:solidFill>
                  <a:srgbClr val="1B2A41"/>
                </a:solidFill>
                <a:latin typeface="Calibri"/>
              </a:rPr>
              <a:t>EventBridge</a:t>
            </a:r>
          </a:p>
          <a:p>
            <a:pPr algn="ctr"/>
            <a:r>
              <a:rPr sz="750">
                <a:solidFill>
                  <a:srgbClr val="5A6C74"/>
                </a:solidFill>
                <a:latin typeface="Calibri"/>
              </a:rPr>
              <a:t>hourly trigger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2404872"/>
            <a:ext cx="1325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6C7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1">
                <a:solidFill>
                  <a:srgbClr val="1B2A41"/>
                </a:solidFill>
                <a:latin typeface="Calibri"/>
              </a:rPr>
              <a:t>Feature builder λ</a:t>
            </a:r>
          </a:p>
          <a:p>
            <a:pPr algn="ctr"/>
            <a:r>
              <a:rPr sz="750">
                <a:solidFill>
                  <a:srgbClr val="5A6C74"/>
                </a:solidFill>
                <a:latin typeface="Calibri"/>
              </a:rPr>
              <a:t>imports calendarfeat.py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2404872"/>
            <a:ext cx="1325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6C7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1">
                <a:solidFill>
                  <a:srgbClr val="1B2A41"/>
                </a:solidFill>
                <a:latin typeface="Calibri"/>
              </a:rPr>
              <a:t>Scorer λ</a:t>
            </a:r>
          </a:p>
          <a:p>
            <a:pPr algn="ctr"/>
            <a:r>
              <a:rPr sz="750">
                <a:solidFill>
                  <a:srgbClr val="5A6C74"/>
                </a:solidFill>
                <a:latin typeface="Calibri"/>
              </a:rPr>
              <a:t>reads order from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49840" y="2404872"/>
            <a:ext cx="1325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6C7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1">
                <a:solidFill>
                  <a:srgbClr val="1B2A41"/>
                </a:solidFill>
                <a:latin typeface="Calibri"/>
              </a:rPr>
              <a:t>API / cache</a:t>
            </a:r>
          </a:p>
          <a:p>
            <a:pPr algn="ctr"/>
            <a:r>
              <a:rPr sz="750">
                <a:solidFill>
                  <a:srgbClr val="5A6C74"/>
                </a:solidFill>
                <a:latin typeface="Calibri"/>
              </a:rPr>
              <a:t>serves the 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3364992"/>
            <a:ext cx="576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A6C74"/>
                </a:solidFill>
                <a:latin typeface="Calibri"/>
              </a:rPr>
              <a:t>calendarfeat.py is deliberately Spark-free so an inference path imports the SAME code. A reimplementation is where train/serve skew starts.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77639"/>
            <a:ext cx="10881360" cy="1965960"/>
          </a:xfrm>
          <a:prstGeom prst="round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103327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B2A41"/>
                </a:solidFill>
                <a:latin typeface="Calibri"/>
              </a:rPr>
              <a:t>Why it is not built</a:t>
            </a:r>
          </a:p>
          <a:p>
            <a:pPr>
              <a:spcAft>
                <a:spcPts val="500"/>
              </a:spcAft>
            </a:pPr>
            <a:r>
              <a:rPr sz="600" b="0">
                <a:solidFill>
                  <a:srgbClr val="1B2A41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00" b="0">
                <a:solidFill>
                  <a:srgbClr val="1B2A41"/>
                </a:solidFill>
                <a:latin typeface="Calibri"/>
              </a:rPr>
              <a:t>•  The deliverable is a registered model and a measured attribution, not a service. Serving adds an always-on cost profile to a project whose cost at rest is S3 storage.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00" b="0">
                <a:solidFill>
                  <a:srgbClr val="1B2A41"/>
                </a:solidFill>
                <a:latin typeface="Calibri"/>
              </a:rPr>
              <a:t>•  Validating reconstructed occupancy against recorded live dock counts needs a trip archive overlapping a window of polled station_status. Indego publishes quarterly, so that overlap does not exist before the delivery date.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00" b="1">
                <a:solidFill>
                  <a:srgbClr val="D05C17"/>
                </a:solidFill>
                <a:latin typeface="Calibri"/>
              </a:rPr>
              <a:t>•  Tier-2 occupancy therefore ships diagnostically consistent but WITHOUT a numeric error bar — and is reported that way.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1A88D"/>
                </a:solidFill>
                <a:latin typeface="Calibr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B2A41"/>
                </a:solidFill>
                <a:latin typeface="Calibri"/>
              </a:rPr>
              <a:t>Tools — and what each one is actually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97864"/>
            <a:ext cx="1005840" cy="26000"/>
          </a:xfrm>
          <a:prstGeom prst="rect">
            <a:avLst/>
          </a:prstGeom>
          <a:solidFill>
            <a:srgbClr val="01A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>Team 7 · Indego Station 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44752"/>
          <a:ext cx="10881359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829153"/>
                <a:gridCol w="5875934"/>
              </a:tblGrid>
              <a:tr h="4343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marL="64008" marR="64008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64008" marR="64008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Why this one</a:t>
                      </a:r>
                    </a:p>
                  </a:txBody>
                  <a:tcPr marL="64008" marR="64008" marT="18288" marB="18288" anchor="ctr">
                    <a:solidFill>
                      <a:srgbClr val="1B2A41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Amazon S3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Data lake: raw / parsed / clean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Zone split makes reprocessing cheap — a bad filter is fixed without re-downloading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AWS Lambda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Ingest: trips, stations, weather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Three short download tasks. No server, no schedule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EMR Serverless (PySpark)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Phases 1-5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Spark without a cluster to operate; preInitializedCapacity = 0, so idle costs nothing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Glue Data Catalog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Table metadata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Hand-written DDL, no crawler — a convenience over Parquet paths, not a dependency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Amazon Athena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QA gates, ledger diagnostics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Ad-hoc SQL against the lake; used to disprove the 'weather has no variance' theory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SageMaker Processing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Phase 6 execution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Training-job quota was 0 account-wide; Processing runs the identical code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SageMaker Model Registry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The deliverable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Versioned, approval-gated handoff point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LightGBM 4.5.0  ·  SHAP 0.46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Models and attribution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Gradient boosting on tabular data; SHAP aggregates cleanly to factor groups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Terraform 1.12.2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All infrastructure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Three layers. No console clicks, no drift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77116"/>
                </a:solidFill>
                <a:latin typeface="Calibri"/>
              </a:rPr>
              <a:t>Total cost: ~$0.30 for all four training runs · $1-2 per pipeline run · under $1/month at rest.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1A88D"/>
                </a:solidFill>
                <a:latin typeface="Calibr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B2A41"/>
                </a:solidFill>
                <a:latin typeface="Calibri"/>
              </a:rPr>
              <a:t>Accommodations the data forced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97864"/>
            <a:ext cx="1005840" cy="26000"/>
          </a:xfrm>
          <a:prstGeom prst="rect">
            <a:avLst/>
          </a:prstGeom>
          <a:solidFill>
            <a:srgbClr val="01A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>Team 7 · Indego Station 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44752"/>
            <a:ext cx="35204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44752"/>
            <a:ext cx="60000" cy="2057400"/>
          </a:xfrm>
          <a:prstGeom prst="rect">
            <a:avLst/>
          </a:prstGeom>
          <a:solidFill>
            <a:srgbClr val="C73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554480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B2A41"/>
                </a:solidFill>
                <a:latin typeface="Calibri"/>
              </a:rPr>
              <a:t>No historical occupancy exists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011680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>GBFS publishes a LIVE SNAPSHOT only. Occupancy was reconstructed by chaining each bike's trips on bike_id — a different start station than the last end station means a van moved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926080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C7341C"/>
                </a:solidFill>
                <a:latin typeface="Calibri"/>
              </a:rPr>
              <a:t>→ Tier 1 net_flow is COUNTED (zero error) → we train on it.
Tier 2 occupancy is estimated.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44752"/>
            <a:ext cx="35204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44752"/>
            <a:ext cx="60000" cy="2057400"/>
          </a:xfrm>
          <a:prstGeom prst="rect">
            <a:avLst/>
          </a:prstGeom>
          <a:solidFill>
            <a:srgbClr val="C73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554480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B2A41"/>
                </a:solidFill>
                <a:latin typeface="Calibri"/>
              </a:rPr>
              <a:t>Timestamps parsed to NULL — silently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011680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>Archives publish M/d/yyyy H:mm. Spark's implicit to_timestamp returns NULL, the window filter dropped every row, and the job went GREEN with an empty table.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926080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C7341C"/>
                </a:solidFill>
                <a:latin typeface="Calibri"/>
              </a:rPr>
              <a:t>→ Hard gate at phase 2: fails above 1% unparseable.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444752"/>
            <a:ext cx="35204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444752"/>
            <a:ext cx="60000" cy="2057400"/>
          </a:xfrm>
          <a:prstGeom prst="rect">
            <a:avLst/>
          </a:prstGeom>
          <a:solidFill>
            <a:srgbClr val="D05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1554480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B2A41"/>
                </a:solidFill>
                <a:latin typeface="Calibri"/>
              </a:rPr>
              <a:t>Occupancy level is a lower bound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2011680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>O(s,0) is one unknown per station. Pinning it needs a published capacity, and the only source is a live feed we do not read.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2926080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D05C17"/>
                </a:solidFill>
                <a:latin typeface="Calibri"/>
              </a:rPr>
              <a:t>→ O(s,0) = −min(cumulative delta). The SHAPE — what the features predict — is unaffected.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685032"/>
            <a:ext cx="35204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685032"/>
            <a:ext cx="60000" cy="2057400"/>
          </a:xfrm>
          <a:prstGeom prst="rect">
            <a:avLst/>
          </a:prstGeom>
          <a:solidFill>
            <a:srgbClr val="D05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794760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B2A41"/>
                </a:solidFill>
                <a:latin typeface="Calibri"/>
              </a:rPr>
              <a:t>13 stations that never existed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4251960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>17.62% of hours sat at zero occupancy vs a 15% threshold. 13 stations had a go-live date before the window and not one trip inside it — the table has no retirement date.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5166360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D05C17"/>
                </a:solidFill>
                <a:latin typeface="Calibri"/>
              </a:rPr>
              <a:t>→ Grid bounded by OBSERVED activity → 5.65%. The threshold was NOT moved.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3685032"/>
            <a:ext cx="35204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3685032"/>
            <a:ext cx="60000" cy="2057400"/>
          </a:xfrm>
          <a:prstGeom prst="rect">
            <a:avLst/>
          </a:prstGeom>
          <a:solidFill>
            <a:srgbClr val="5A6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7992" y="3794760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B2A41"/>
                </a:solidFill>
                <a:latin typeface="Calibri"/>
              </a:rPr>
              <a:t>A pseudo-station in the table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7992" y="4251960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>Station 3000 'Virtual Station' is a staff check-in placeholder, not a dock. Dropped from trips but not from the station table.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07992" y="5166360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5A6C74"/>
                </a:solidFill>
                <a:latin typeface="Calibri"/>
              </a:rPr>
              <a:t>→ Dropped from both — by ID, since trip archives carry no station-name column.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3685032"/>
            <a:ext cx="35204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0" y="3685032"/>
            <a:ext cx="60000" cy="2057400"/>
          </a:xfrm>
          <a:prstGeom prst="rect">
            <a:avLst/>
          </a:prstGeom>
          <a:solidFill>
            <a:srgbClr val="5A6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3794760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B2A41"/>
                </a:solidFill>
                <a:latin typeface="Calibri"/>
              </a:rPr>
              <a:t>Rebalance thresholds are priors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251960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>The 6h / 72h / 30d gap rules are stated priors, not findings. Validating them needs data this project does not record.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2" y="5166360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5A6C74"/>
                </a:solidFill>
                <a:latin typeface="Calibri"/>
              </a:rPr>
              <a:t>→ Emission LOGIC is validated by a synthetic recovery test on the cluster.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1A88D"/>
                </a:solidFill>
                <a:latin typeface="Calibr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B2A41"/>
                </a:solidFill>
                <a:latin typeface="Calibri"/>
              </a:rPr>
              <a:t>Experiments — four runs, one reversal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97864"/>
            <a:ext cx="1005840" cy="26000"/>
          </a:xfrm>
          <a:prstGeom prst="rect">
            <a:avLst/>
          </a:prstGeom>
          <a:solidFill>
            <a:srgbClr val="01A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>Team 7 · Indego Station 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44752"/>
          <a:ext cx="10881358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254"/>
                <a:gridCol w="2176272"/>
                <a:gridCol w="979322"/>
                <a:gridCol w="979322"/>
                <a:gridCol w="1088136"/>
                <a:gridCol w="1088136"/>
                <a:gridCol w="979322"/>
                <a:gridCol w="3155594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64008" marR="64008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Run</a:t>
                      </a:r>
                    </a:p>
                  </a:txBody>
                  <a:tcPr marL="64008" marR="64008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 marL="64008" marR="64008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Features</a:t>
                      </a:r>
                    </a:p>
                  </a:txBody>
                  <a:tcPr marL="64008" marR="64008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best_iter</a:t>
                      </a:r>
                    </a:p>
                  </a:txBody>
                  <a:tcPr marL="64008" marR="64008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Test MAE</a:t>
                      </a:r>
                    </a:p>
                  </a:txBody>
                  <a:tcPr marL="64008" marR="64008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Weather</a:t>
                      </a:r>
                    </a:p>
                  </a:txBody>
                  <a:tcPr marL="64008" marR="64008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64008" marR="64008" marT="18288" marB="18288" anchor="ctr">
                    <a:solidFill>
                      <a:srgbClr val="1B2A41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20260918T190026Z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L1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all 22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553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0.5070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0.4%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DELIVERABLE  ·  station-balance/1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nolag-192421Z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L1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− lag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0.5267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VOID — degenerate fit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l2full-193235Z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L2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all 22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1837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0.5393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5.4%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Attribution instrument  ·  /2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l2nolag-193255Z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L2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− lag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0.5444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3.0%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Attribution instrument  ·  /3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41071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1A88D"/>
                </a:solidFill>
                <a:latin typeface="Calibri"/>
              </a:rPr>
              <a:t>Experiment 0 — an infrastructure constraint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30752"/>
            <a:ext cx="53035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C7341C"/>
                </a:solidFill>
                <a:latin typeface="Calibri"/>
              </a:rPr>
              <a:t>CreateTrainingJob failed: ResourceLimitExceeded.</a:t>
            </a:r>
          </a:p>
          <a:p>
            <a:pPr>
              <a:spcAft>
                <a:spcPts val="500"/>
              </a:spcAft>
            </a:pPr>
            <a:r>
              <a:rPr sz="400" b="0">
                <a:solidFill>
                  <a:srgbClr val="1B2A41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1B2A41"/>
                </a:solidFill>
                <a:latin typeface="Calibri"/>
              </a:rPr>
              <a:t>All 2,093 SageMaker quotas checked: EVERY training-job and spot-training quota is 0, in every region. Account-level restriction, Support case open, no ETA.</a:t>
            </a:r>
          </a:p>
          <a:p>
            <a:pPr>
              <a:spcAft>
                <a:spcPts val="500"/>
              </a:spcAft>
            </a:pPr>
            <a:r>
              <a:rPr sz="400" b="0">
                <a:solidFill>
                  <a:srgbClr val="1B2A41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1B2A41"/>
                </a:solidFill>
                <a:latin typeface="Calibri"/>
              </a:rPr>
              <a:t>Processing-job quota for ml.t3.xlarge was 2. Processing and Training are the same service, role and image — only the quota differs.</a:t>
            </a:r>
          </a:p>
          <a:p>
            <a:pPr>
              <a:spcAft>
                <a:spcPts val="500"/>
              </a:spcAft>
            </a:pPr>
            <a:r>
              <a:rPr sz="400" b="0">
                <a:solidFill>
                  <a:srgbClr val="1B2A41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77116"/>
                </a:solidFill>
                <a:latin typeface="Calibri"/>
              </a:rPr>
              <a:t>train.py runs UNMODIFIED — it resolves channels from SM_CHANNEL_*, so redirecting those is the entire adaptation. 18 min, ~$0.20.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41071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1A88D"/>
                </a:solidFill>
                <a:latin typeface="Calibri"/>
              </a:rPr>
              <a:t>Experiment 2 — the hypothesis that was wrong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730752"/>
            <a:ext cx="51206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1B2A41"/>
                </a:solidFill>
                <a:latin typeface="Calibri"/>
              </a:rPr>
              <a:t>Hypothesis: the lag features absorb weather's signal — last Tuesday 5pm was also cold and wet, so SHAP credits the lag.</a:t>
            </a:r>
          </a:p>
          <a:p>
            <a:pPr>
              <a:spcAft>
                <a:spcPts val="500"/>
              </a:spcAft>
            </a:pPr>
            <a:r>
              <a:rPr sz="400" b="0">
                <a:solidFill>
                  <a:srgbClr val="1B2A41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50" b="1">
                <a:solidFill>
                  <a:srgbClr val="1B2A41"/>
                </a:solidFill>
                <a:latin typeface="Calibri"/>
              </a:rPr>
              <a:t>The no-lag run returned weather at 0.0%.</a:t>
            </a:r>
          </a:p>
          <a:p>
            <a:pPr>
              <a:spcAft>
                <a:spcPts val="500"/>
              </a:spcAft>
            </a:pPr>
            <a:r>
              <a:rPr sz="400" b="0">
                <a:solidFill>
                  <a:srgbClr val="1B2A41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C7341C"/>
                </a:solidFill>
                <a:latin typeface="Calibri"/>
              </a:rPr>
              <a:t>It confirmed nothing. best_iteration = 1 — the model was a single tree. All 9 weather features at EXACTLY 0.000000.</a:t>
            </a:r>
          </a:p>
          <a:p>
            <a:pPr>
              <a:spcAft>
                <a:spcPts val="500"/>
              </a:spcAft>
            </a:pPr>
            <a:r>
              <a:rPr sz="400" b="0">
                <a:solidFill>
                  <a:srgbClr val="1B2A41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50" b="1">
                <a:solidFill>
                  <a:srgbClr val="D05C17"/>
                </a:solidFill>
                <a:latin typeface="Calibri"/>
              </a:rPr>
              <a:t>The instrument collapsed; it did not return a zero.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1A88D"/>
                </a:solidFill>
                <a:latin typeface="Calibr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B2A41"/>
                </a:solidFill>
                <a:latin typeface="Calibri"/>
              </a:rPr>
              <a:t>The reversal — the objective was hiding the signal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97864"/>
            <a:ext cx="1005840" cy="26000"/>
          </a:xfrm>
          <a:prstGeom prst="rect">
            <a:avLst/>
          </a:prstGeom>
          <a:solidFill>
            <a:srgbClr val="01A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>Team 7 · Indego Station 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A6C74"/>
                </a:solidFill>
                <a:latin typeface="Calibri"/>
              </a:rPr>
              <a:t>Diagnosed against the data, not assumed.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01952"/>
            <a:ext cx="33832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2996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B2A41"/>
                </a:solidFill>
                <a:latin typeface="Calibri"/>
              </a:rPr>
              <a:t>1 · Was the data broken?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59152"/>
            <a:ext cx="29260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5A6C74"/>
                </a:solidFill>
                <a:latin typeface="Calibri"/>
              </a:rPr>
              <a:t>Athena over the training split: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00" b="1">
                <a:solidFill>
                  <a:srgbClr val="1B2A41"/>
                </a:solidFill>
                <a:latin typeface="Calibri"/>
              </a:rPr>
              <a:t>temperature_2m  −13.6 → 38.1, sd 9.85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00" b="1">
                <a:solidFill>
                  <a:srgbClr val="1B2A41"/>
                </a:solidFill>
                <a:latin typeface="Calibri"/>
              </a:rPr>
              <a:t>precipitation   sd 1.89, max 146.9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00" b="1">
                <a:solidFill>
                  <a:srgbClr val="1B2A41"/>
                </a:solidFill>
                <a:latin typeface="Calibri"/>
              </a:rPr>
              <a:t>cloud_cover     sd 44.05</a:t>
            </a:r>
          </a:p>
          <a:p>
            <a:pPr>
              <a:spcAft>
                <a:spcPts val="500"/>
              </a:spcAft>
            </a:pPr>
            <a:r>
              <a:rPr sz="300" b="0">
                <a:solidFill>
                  <a:srgbClr val="1B2A41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 b="1">
                <a:solidFill>
                  <a:srgbClr val="277116"/>
                </a:solidFill>
                <a:latin typeface="Calibri"/>
              </a:rPr>
              <a:t>No. Weather carries real variance.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901952"/>
            <a:ext cx="33832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02996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B2A41"/>
                </a:solidFill>
                <a:latin typeface="Calibri"/>
              </a:rPr>
              <a:t>2 · So what collapsed?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359152"/>
            <a:ext cx="29260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C7341C"/>
                </a:solidFill>
                <a:latin typeface="Calibri"/>
              </a:rPr>
              <a:t>65.0% of net_flow is EXACTLY zero.</a:t>
            </a:r>
          </a:p>
          <a:p>
            <a:pPr>
              <a:spcAft>
                <a:spcPts val="500"/>
              </a:spcAft>
            </a:pPr>
            <a:r>
              <a:rPr sz="300" b="0">
                <a:solidFill>
                  <a:srgbClr val="1B2A41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 b="0">
                <a:solidFill>
                  <a:srgbClr val="1B2A41"/>
                </a:solidFill>
                <a:latin typeface="Calibri"/>
              </a:rPr>
              <a:t>regression_l1's optimal constant is the MEDIAN — which is zero.</a:t>
            </a:r>
          </a:p>
          <a:p>
            <a:pPr>
              <a:spcAft>
                <a:spcPts val="500"/>
              </a:spcAft>
            </a:pPr>
            <a:r>
              <a:rPr sz="300" b="0">
                <a:solidFill>
                  <a:srgbClr val="1B2A41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 b="0">
                <a:solidFill>
                  <a:srgbClr val="1B2A41"/>
                </a:solidFill>
                <a:latin typeface="Calibri"/>
              </a:rPr>
              <a:t>With lags, something shifts that median → 553 rounds. Without them, nothing does → early stopping at iteration 1.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1901952"/>
            <a:ext cx="3749039" cy="2148840"/>
          </a:xfrm>
          <a:prstGeom prst="roundRect">
            <a:avLst/>
          </a:prstGeom>
          <a:solidFill>
            <a:srgbClr val="E8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202996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B2A41"/>
                </a:solidFill>
                <a:latin typeface="Calibri"/>
              </a:rPr>
              <a:t>3 · The fix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359152"/>
            <a:ext cx="3291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1B2A41"/>
                </a:solidFill>
                <a:latin typeface="Calibri"/>
              </a:rPr>
              <a:t>L2 optimises the MEAN, which a zero-inflated target does move.</a:t>
            </a:r>
          </a:p>
          <a:p>
            <a:pPr>
              <a:spcAft>
                <a:spcPts val="500"/>
              </a:spcAft>
            </a:pPr>
            <a:r>
              <a:rPr sz="300" b="0">
                <a:solidFill>
                  <a:srgbClr val="1B2A41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 b="1">
                <a:solidFill>
                  <a:srgbClr val="1B2A41"/>
                </a:solidFill>
                <a:latin typeface="Calibri"/>
              </a:rPr>
              <a:t>Deliverable keeps L1 (better MAE). Attribution uses L2 (fits 4× more signal).</a:t>
            </a:r>
          </a:p>
          <a:p>
            <a:pPr>
              <a:spcAft>
                <a:spcPts val="500"/>
              </a:spcAft>
            </a:pPr>
            <a:r>
              <a:rPr sz="300" b="0">
                <a:solidFill>
                  <a:srgbClr val="1B2A41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00" b="1">
                <a:solidFill>
                  <a:srgbClr val="277116"/>
                </a:solidFill>
                <a:latin typeface="Calibri"/>
              </a:rPr>
              <a:t>train.py now flags best_iteration ≤ 5 as a DEGENERATE FIT, in the log and in metrics.json.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40080" y="4279392"/>
          <a:ext cx="5943600" cy="2194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40080" y="4261104"/>
            <a:ext cx="5943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B2A41"/>
                </a:solidFill>
                <a:latin typeface="Calibri"/>
              </a:rPr>
              <a:t>Total signal the model actually fitted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416552"/>
            <a:ext cx="46634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1B2A41"/>
                </a:solidFill>
                <a:latin typeface="Calibri"/>
              </a:rPr>
              <a:t>The mediation hypothesis is disproved</a:t>
            </a:r>
          </a:p>
          <a:p>
            <a:pPr>
              <a:spcAft>
                <a:spcPts val="500"/>
              </a:spcAft>
            </a:pPr>
            <a:r>
              <a:rPr sz="500" b="0">
                <a:solidFill>
                  <a:srgbClr val="1B2A41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1B2A41"/>
                </a:solidFill>
                <a:latin typeface="Calibri"/>
              </a:rPr>
              <a:t>Weather's absolute effect is LARGER with the lags present (0.026) than without them (0.0018). Removing lags does not liberate weather — it destroys the fit.</a:t>
            </a:r>
          </a:p>
          <a:p>
            <a:pPr>
              <a:spcAft>
                <a:spcPts val="500"/>
              </a:spcAft>
            </a:pPr>
            <a:r>
              <a:rPr sz="500" b="0">
                <a:solidFill>
                  <a:srgbClr val="1B2A41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50" b="1">
                <a:solidFill>
                  <a:srgbClr val="D05C17"/>
                </a:solidFill>
                <a:latin typeface="Calibri"/>
              </a:rPr>
              <a:t>Weather at "0.4%" was never a statement about weather. It was a statement about fitting the median of a target that is 65% zeros.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1A88D"/>
                </a:solidFill>
                <a:latin typeface="Calibr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B2A41"/>
                </a:solidFill>
                <a:latin typeface="Calibri"/>
              </a:rPr>
              <a:t>Results — model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97864"/>
            <a:ext cx="1005840" cy="26000"/>
          </a:xfrm>
          <a:prstGeom prst="rect">
            <a:avLst/>
          </a:prstGeom>
          <a:solidFill>
            <a:srgbClr val="01A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>Team 7 · Indego Station 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5A6C74"/>
                </a:solidFill>
                <a:latin typeface="Calibri"/>
              </a:rPr>
              <a:t>station-balance/1  ·  evaluated on the held-out test period exactly once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47672"/>
            <a:ext cx="2560320" cy="932688"/>
          </a:xfrm>
          <a:prstGeom prst="round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800" b="1">
                <a:solidFill>
                  <a:srgbClr val="277116"/>
                </a:solidFill>
                <a:latin typeface="Calibri"/>
              </a:rPr>
              <a:t>0.5070</a:t>
            </a:r>
          </a:p>
          <a:p>
            <a:pPr algn="ctr"/>
            <a:r>
              <a:rPr sz="900">
                <a:solidFill>
                  <a:srgbClr val="5A6C74"/>
                </a:solidFill>
                <a:latin typeface="Calibri"/>
              </a:rPr>
              <a:t>net_flow MAE  (model)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947672"/>
            <a:ext cx="2560320" cy="932688"/>
          </a:xfrm>
          <a:prstGeom prst="round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800" b="1">
                <a:solidFill>
                  <a:srgbClr val="5A6C74"/>
                </a:solidFill>
                <a:latin typeface="Calibri"/>
              </a:rPr>
              <a:t>0.5581</a:t>
            </a:r>
          </a:p>
          <a:p>
            <a:pPr algn="ctr"/>
            <a:r>
              <a:rPr sz="900">
                <a:solidFill>
                  <a:srgbClr val="5A6C74"/>
                </a:solidFill>
                <a:latin typeface="Calibri"/>
              </a:rPr>
              <a:t>net_flow MAE  (baseline)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947672"/>
            <a:ext cx="2560320" cy="932688"/>
          </a:xfrm>
          <a:prstGeom prst="round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800" b="1">
                <a:solidFill>
                  <a:srgbClr val="01A88D"/>
                </a:solidFill>
                <a:latin typeface="Calibri"/>
              </a:rPr>
              <a:t>9.2%</a:t>
            </a:r>
          </a:p>
          <a:p>
            <a:pPr algn="ctr"/>
            <a:r>
              <a:rPr sz="900">
                <a:solidFill>
                  <a:srgbClr val="5A6C74"/>
                </a:solidFill>
                <a:latin typeface="Calibri"/>
              </a:rPr>
              <a:t>better than 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1947672"/>
            <a:ext cx="2788920" cy="932688"/>
          </a:xfrm>
          <a:prstGeom prst="round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800" b="1">
                <a:solidFill>
                  <a:srgbClr val="01A88D"/>
                </a:solidFill>
                <a:latin typeface="Calibri"/>
              </a:rPr>
              <a:t>0.8716</a:t>
            </a:r>
          </a:p>
          <a:p>
            <a:pPr algn="ctr"/>
            <a:r>
              <a:rPr sz="900">
                <a:solidFill>
                  <a:srgbClr val="5A6C74"/>
                </a:solidFill>
                <a:latin typeface="Calibri"/>
              </a:rPr>
              <a:t>is_empty PR-AUC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3090672"/>
          <a:ext cx="6035039" cy="2377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9110"/>
                <a:gridCol w="965606"/>
                <a:gridCol w="3500323"/>
              </a:tblGrid>
              <a:tr h="33963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64008" marR="64008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64008" marR="64008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 marL="64008" marR="64008" marT="18288" marB="18288" anchor="ctr">
                    <a:solidFill>
                      <a:srgbClr val="1B2A41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net_flow MAE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0.5070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Mean absolute error in bikes per station-hour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net_flow RMSE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1.1111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Larger than MAE — errors are concentrated in busy hours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Baseline MAE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0.5581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(station, hour, weekday) mean — deliberately strong and cheap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is_empty PR-AUC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0.8716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Precision-recall AUC; class weight 17.4 for imbalance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is_empty Brier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0.0243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Calibration — a probability, not a point estimate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best_iteration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553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Well clear of the degenerate-fit threshold of 5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949440" y="3090672"/>
            <a:ext cx="4572000" cy="2377440"/>
          </a:xfrm>
          <a:prstGeom prst="round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3273552"/>
            <a:ext cx="4023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1B2A41"/>
                </a:solidFill>
                <a:latin typeface="Calibri"/>
              </a:rPr>
              <a:t>Why the baseline matters</a:t>
            </a:r>
          </a:p>
          <a:p>
            <a:pPr>
              <a:spcAft>
                <a:spcPts val="500"/>
              </a:spcAft>
            </a:pPr>
            <a:r>
              <a:rPr sz="500" b="0">
                <a:solidFill>
                  <a:srgbClr val="1B2A41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1B2A41"/>
                </a:solidFill>
                <a:latin typeface="Calibri"/>
              </a:rPr>
              <a:t>The baseline is a (station, hour, weekday) mean — strong, cheap, and hard to beat on habitual demand.</a:t>
            </a:r>
          </a:p>
          <a:p>
            <a:pPr>
              <a:spcAft>
                <a:spcPts val="500"/>
              </a:spcAft>
            </a:pPr>
            <a:r>
              <a:rPr sz="500" b="0">
                <a:solidFill>
                  <a:srgbClr val="1B2A41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1B2A41"/>
                </a:solidFill>
                <a:latin typeface="Calibri"/>
              </a:rPr>
              <a:t>If the full model could not beat it, weather and time would be contributing nothing — and that needed to be known EARLY.</a:t>
            </a:r>
          </a:p>
          <a:p>
            <a:pPr>
              <a:spcAft>
                <a:spcPts val="500"/>
              </a:spcAft>
            </a:pPr>
            <a:r>
              <a:rPr sz="500" b="0">
                <a:solidFill>
                  <a:srgbClr val="1B2A41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D05C17"/>
                </a:solidFill>
                <a:latin typeface="Calibri"/>
              </a:rPr>
              <a:t>The training flow routes that failure back to phase 4, not forward to publish.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77116"/>
                </a:solidFill>
                <a:latin typeface="Calibri"/>
              </a:rPr>
              <a:t>All 8 quality gates passed — timestamp parse · recovery test · mass balance · zero-occupancy 5.65% · leakage audit · chronological split · beats baseline · fit not degenerate.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1A88D"/>
                </a:solidFill>
                <a:latin typeface="Calibr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B2A41"/>
                </a:solidFill>
                <a:latin typeface="Calibri"/>
              </a:rPr>
              <a:t>Results — the attribution  (the research answer)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97864"/>
            <a:ext cx="1005840" cy="26000"/>
          </a:xfrm>
          <a:prstGeom prst="rect">
            <a:avLst/>
          </a:prstGeom>
          <a:solidFill>
            <a:srgbClr val="01A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>Team 7 · Indego Station 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5A6C74"/>
                </a:solidFill>
                <a:latin typeface="Calibri"/>
              </a:rPr>
              <a:t>Mean absolute SHAP per factor group, 20,000-row test sample, from station-balance/2 (L2 full).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901952"/>
          <a:ext cx="658368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98079" y="1901952"/>
            <a:ext cx="402336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D05C17"/>
                </a:solidFill>
                <a:latin typeface="Calibri"/>
              </a:rPr>
              <a:t>Time beats weather ~4.5 : 1</a:t>
            </a:r>
          </a:p>
          <a:p>
            <a:pPr>
              <a:spcAft>
                <a:spcPts val="500"/>
              </a:spcAft>
            </a:pPr>
            <a:r>
              <a:rPr sz="700" b="0">
                <a:solidFill>
                  <a:srgbClr val="1B2A41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50" b="0">
                <a:solidFill>
                  <a:srgbClr val="1B2A41"/>
                </a:solidFill>
                <a:latin typeface="Calibri"/>
              </a:rPr>
              <a:t>Both external factors are dwarfed by the station's own recent history — expected, and NOT a finding about external factors.</a:t>
            </a:r>
          </a:p>
          <a:p>
            <a:pPr>
              <a:spcAft>
                <a:spcPts val="500"/>
              </a:spcAft>
            </a:pPr>
            <a:r>
              <a:rPr sz="500" b="0">
                <a:solidFill>
                  <a:srgbClr val="1B2A41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50" b="1">
                <a:solidFill>
                  <a:srgbClr val="1B2A41"/>
                </a:solidFill>
                <a:latin typeface="Calibri"/>
              </a:rPr>
              <a:t>net_flow_same_hour_last_week is the single largest feature in every run.</a:t>
            </a:r>
          </a:p>
          <a:p>
            <a:pPr>
              <a:spcAft>
                <a:spcPts val="500"/>
              </a:spcAft>
            </a:pPr>
            <a:r>
              <a:rPr sz="500" b="0">
                <a:solidFill>
                  <a:srgbClr val="1B2A41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50" b="0">
                <a:solidFill>
                  <a:srgbClr val="1B2A41"/>
                </a:solidFill>
                <a:latin typeface="Calibri"/>
              </a:rPr>
              <a:t>Bike demand is overwhelmingly habitual: the best predictor of this Tuesday at 5pm is last Tuesday at 5pm.</a:t>
            </a:r>
          </a:p>
          <a:p>
            <a:pPr>
              <a:spcAft>
                <a:spcPts val="500"/>
              </a:spcAft>
            </a:pPr>
            <a:r>
              <a:rPr sz="700" b="0">
                <a:solidFill>
                  <a:srgbClr val="1B2A41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50" b="1">
                <a:solidFill>
                  <a:srgbClr val="01A88D"/>
                </a:solidFill>
                <a:latin typeface="Calibri"/>
              </a:rPr>
              <a:t>Weather's 5.4% is small — and real. It is a second-order correction to a strongly periodic demand signal.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120640"/>
            <a:ext cx="10881360" cy="777240"/>
          </a:xfrm>
          <a:prstGeom prst="round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2578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2A41"/>
                </a:solidFill>
                <a:latin typeface="Calibri"/>
              </a:rPr>
              <a:t>Practical reading:  an operator anticipating stockouts should schedule against the clock first, and adjust for weather second.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1A88D"/>
                </a:solidFill>
                <a:latin typeface="Calibr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B2A41"/>
                </a:solidFill>
                <a:latin typeface="Calibri"/>
              </a:rPr>
              <a:t>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97864"/>
            <a:ext cx="1005840" cy="26000"/>
          </a:xfrm>
          <a:prstGeom prst="rect">
            <a:avLst/>
          </a:prstGeom>
          <a:solidFill>
            <a:srgbClr val="01A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>Team 7 · Indego Station 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5A6C74"/>
                </a:solidFill>
                <a:latin typeface="Calibri"/>
              </a:rPr>
              <a:t>SageMaker Model Registry group  station-balance  ·  account 739638629450  ·  us-east-1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901952"/>
          <a:ext cx="1088135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508"/>
                <a:gridCol w="3264408"/>
                <a:gridCol w="2176272"/>
                <a:gridCol w="4570171"/>
              </a:tblGrid>
              <a:tr h="3429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Version</a:t>
                      </a:r>
                    </a:p>
                  </a:txBody>
                  <a:tcPr marL="64008" marR="64008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marL="64008" marR="64008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Approval</a:t>
                      </a:r>
                    </a:p>
                  </a:txBody>
                  <a:tcPr marL="64008" marR="64008" marT="18288" marB="1828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64008" marR="64008" marT="18288" marB="18288" anchor="ctr">
                    <a:solidFill>
                      <a:srgbClr val="1B2A41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station-balance-20260918T190026Z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Approved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DELIVERABLE — L1, all features, models/current/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station-balance-l2full-193235Z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PendingManualApproval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Attribution instrument — L2, all features</a:t>
                      </a:r>
                    </a:p>
                  </a:txBody>
                  <a:tcPr marL="64008" marR="64008" marT="18288" marB="18288" anchor="ctr">
                    <a:solidFill>
                      <a:srgbClr val="F4F6F7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station-balance-l2nolag-193255Z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PendingManualApproval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A41"/>
                          </a:solidFill>
                          <a:latin typeface="Calibri"/>
                        </a:rPr>
                        <a:t>Attribution instrument — L2, no-lag (weakly fitted)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5021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1A88D"/>
                </a:solidFill>
                <a:latin typeface="Calibri"/>
              </a:rPr>
              <a:t>The bundle — five files, versioned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22192"/>
            <a:ext cx="51206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1B2A41"/>
                </a:solidFill>
                <a:latin typeface="Calibri"/>
              </a:rPr>
              <a:t>model_net_flow.txt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100" b="1">
                <a:solidFill>
                  <a:srgbClr val="1B2A41"/>
                </a:solidFill>
                <a:latin typeface="Calibri"/>
              </a:rPr>
              <a:t>model_is_empty.txt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100" b="1">
                <a:solidFill>
                  <a:srgbClr val="1B2A41"/>
                </a:solidFill>
                <a:latin typeface="Calibri"/>
              </a:rPr>
              <a:t>features.json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100" b="1">
                <a:solidFill>
                  <a:srgbClr val="1B2A41"/>
                </a:solidFill>
                <a:latin typeface="Calibri"/>
              </a:rPr>
              <a:t>metrics.json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100" b="1">
                <a:solidFill>
                  <a:srgbClr val="1B2A41"/>
                </a:solidFill>
                <a:latin typeface="Calibri"/>
              </a:rPr>
              <a:t>attribution.json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822192"/>
            <a:ext cx="31089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00" b="0">
                <a:solidFill>
                  <a:srgbClr val="5A6C74"/>
                </a:solidFill>
                <a:latin typeface="Calibri"/>
              </a:rPr>
              <a:t>regressor — hourly net flow
classifier — P(empty dock)
contract: names, groups, ORDER
metrics, gates, caveats
the research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30952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D05C17"/>
                </a:solidFill>
                <a:latin typeface="Calibri"/>
              </a:rPr>
              <a:t>A bundle missing attribution.json is REFUSED at publish — attribution is the deliverable, not an extra.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502152"/>
            <a:ext cx="5120640" cy="2377440"/>
          </a:xfrm>
          <a:prstGeom prst="round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3666744"/>
            <a:ext cx="45720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1B2A41"/>
                </a:solidFill>
                <a:latin typeface="Calibri"/>
              </a:rPr>
              <a:t>Why two models are registered</a:t>
            </a:r>
          </a:p>
          <a:p>
            <a:pPr>
              <a:spcAft>
                <a:spcPts val="500"/>
              </a:spcAft>
            </a:pPr>
            <a:r>
              <a:rPr sz="500" b="0">
                <a:solidFill>
                  <a:srgbClr val="1B2A41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1B2A41"/>
                </a:solidFill>
                <a:latin typeface="Calibri"/>
              </a:rPr>
              <a:t>L1 predicts better (MAE 0.5070 vs 0.5393). L2 measures better (fits 4× more signal).</a:t>
            </a:r>
          </a:p>
          <a:p>
            <a:pPr>
              <a:spcAft>
                <a:spcPts val="500"/>
              </a:spcAft>
            </a:pPr>
            <a:r>
              <a:rPr sz="500" b="0">
                <a:solidFill>
                  <a:srgbClr val="1B2A41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1B2A41"/>
                </a:solidFill>
                <a:latin typeface="Calibri"/>
              </a:rPr>
              <a:t>Both registered; only one served. The instruments are PendingManualApproval and described do-not-serve.</a:t>
            </a:r>
          </a:p>
          <a:p>
            <a:pPr>
              <a:spcAft>
                <a:spcPts val="500"/>
              </a:spcAft>
            </a:pPr>
            <a:r>
              <a:rPr sz="500" b="0">
                <a:solidFill>
                  <a:srgbClr val="1B2A41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 b="1">
                <a:solidFill>
                  <a:srgbClr val="01A88D"/>
                </a:solidFill>
                <a:latin typeface="Calibri"/>
              </a:rPr>
              <a:t>40_publish_model.sh --attribution-only classifies a variant by dropped groups OR objective — an L2 full run drops nothing, so a groups-only test would have waved it over the deliverable.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1A88D"/>
                </a:solidFill>
                <a:latin typeface="Calibr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B2A41"/>
                </a:solidFill>
                <a:latin typeface="Calibri"/>
              </a:rPr>
              <a:t>Limitations — stated, not buried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97864"/>
            <a:ext cx="1005840" cy="26000"/>
          </a:xfrm>
          <a:prstGeom prst="rect">
            <a:avLst/>
          </a:prstGeom>
          <a:solidFill>
            <a:srgbClr val="01A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>Team 7 · Indego Station 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44752"/>
            <a:ext cx="108813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44752"/>
            <a:ext cx="60000" cy="841248"/>
          </a:xfrm>
          <a:prstGeom prst="rect">
            <a:avLst/>
          </a:prstGeom>
          <a:solidFill>
            <a:srgbClr val="C73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B2A41"/>
                </a:solidFill>
                <a:latin typeface="Calibri"/>
              </a:rPr>
              <a:t>Tier-2 occupancy is unvalidated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554480"/>
            <a:ext cx="6949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5A6C74"/>
                </a:solidFill>
                <a:latin typeface="Calibri"/>
              </a:rPr>
              <a:t>The level is a lower bound and the gap thresholds are stated priors. Fine for the deliverable — attribution rests on Tier-1 counted net_flow — but pct_full and is_empty are estimates, not measurements.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404872"/>
            <a:ext cx="108813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404872"/>
            <a:ext cx="60000" cy="841248"/>
          </a:xfrm>
          <a:prstGeom prst="rect">
            <a:avLst/>
          </a:prstGeom>
          <a:solidFill>
            <a:srgbClr val="D05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1460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B2A41"/>
                </a:solidFill>
                <a:latin typeface="Calibri"/>
              </a:rPr>
              <a:t>Two factors, not three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514600"/>
            <a:ext cx="6949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5A6C74"/>
                </a:solidFill>
                <a:latin typeface="Calibri"/>
              </a:rPr>
              <a:t>The absent closure arm is a real candidate explanation for weather's modest share. A cut arm and a suppressed measurement are different problems; only the second turned out to be present.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64992"/>
            <a:ext cx="108813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364992"/>
            <a:ext cx="60000" cy="841248"/>
          </a:xfrm>
          <a:prstGeom prst="rect">
            <a:avLst/>
          </a:prstGeom>
          <a:solidFill>
            <a:srgbClr val="D05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47472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B2A41"/>
                </a:solidFill>
                <a:latin typeface="Calibri"/>
              </a:rPr>
              <a:t>The attribution depends on the loss function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474720"/>
            <a:ext cx="6949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5A6C74"/>
                </a:solidFill>
                <a:latin typeface="Calibri"/>
              </a:rPr>
              <a:t>Weather reads 0.4% under L1 and 5.4% under L2 on identical features. The L2 number is better founded, but that sensitivity is itself a caveat worth carrying.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325112"/>
            <a:ext cx="108813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325112"/>
            <a:ext cx="60000" cy="841248"/>
          </a:xfrm>
          <a:prstGeom prst="rect">
            <a:avLst/>
          </a:prstGeom>
          <a:solidFill>
            <a:srgbClr val="5A6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43484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B2A41"/>
                </a:solidFill>
                <a:latin typeface="Calibri"/>
              </a:rPr>
              <a:t>The lag group is not an external factor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434840"/>
            <a:ext cx="6949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5A6C74"/>
                </a:solidFill>
                <a:latin typeface="Calibri"/>
              </a:rPr>
              <a:t>It dominates the attribution at 57.5% and must not be read as an answer to the research question. It is a control, not a competitor.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285232"/>
            <a:ext cx="108813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5285232"/>
            <a:ext cx="60000" cy="841248"/>
          </a:xfrm>
          <a:prstGeom prst="rect">
            <a:avLst/>
          </a:prstGeom>
          <a:solidFill>
            <a:srgbClr val="5A6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9496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B2A41"/>
                </a:solidFill>
                <a:latin typeface="Calibri"/>
              </a:rPr>
              <a:t>Nothing serves this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394960"/>
            <a:ext cx="6949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5A6C74"/>
                </a:solidFill>
                <a:latin typeface="Calibri"/>
              </a:rPr>
              <a:t>The serving path is designed and specified, not deployed. Step 6.6 — external ledger validation — is deferred past delivery for lack of overlapping data.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1A88D"/>
                </a:solidFill>
                <a:latin typeface="Calibri"/>
              </a:rPr>
              <a:t>WHAT WE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Bike demand is habitual. Time beats weather 4.5 to 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65836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>
                <a:solidFill>
                  <a:srgbClr val="B9C6CE"/>
                </a:solidFill>
                <a:latin typeface="Calibri"/>
              </a:rPr>
              <a:t>Weather is a second-order correction to a strongly periodic signal — small, and real, at 5.4% of attributed effect.</a:t>
            </a:r>
          </a:p>
          <a:p>
            <a:pPr>
              <a:spcAft>
                <a:spcPts val="500"/>
              </a:spcAft>
            </a:pPr>
            <a:r>
              <a:rPr sz="800" b="0">
                <a:solidFill>
                  <a:srgbClr val="1B2A41"/>
                </a:solidFill>
                <a:latin typeface="Calibri"/>
              </a:rPr>
              <a:t/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400" b="1">
                <a:solidFill>
                  <a:srgbClr val="01A88D"/>
                </a:solidFill>
                <a:latin typeface="Calibri"/>
              </a:rPr>
              <a:t>The first measurement said 0.4%. It was an artifact of fitting the median of a target that is 65% zeros — not a property of weather.</a:t>
            </a:r>
          </a:p>
          <a:p>
            <a:pPr>
              <a:spcAft>
                <a:spcPts val="500"/>
              </a:spcAft>
            </a:pPr>
            <a:r>
              <a:rPr sz="800" b="0">
                <a:solidFill>
                  <a:srgbClr val="1B2A41"/>
                </a:solidFill>
                <a:latin typeface="Calibri"/>
              </a:rPr>
              <a:t/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B9C6CE"/>
                </a:solidFill>
                <a:latin typeface="Calibri"/>
              </a:rPr>
              <a:t>Catching that is the result we are most confident 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74320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01A88D"/>
                </a:solidFill>
                <a:latin typeface="Calibri"/>
              </a:rPr>
              <a:t>5.1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309067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B9C6CE"/>
                </a:solidFill>
                <a:latin typeface="Calibri"/>
              </a:rPr>
              <a:t>trips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274320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01A88D"/>
                </a:solidFill>
                <a:latin typeface="Calibri"/>
              </a:rPr>
              <a:t>9.4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309067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B9C6CE"/>
                </a:solidFill>
                <a:latin typeface="Calibri"/>
              </a:rPr>
              <a:t>station-hours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61188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01A88D"/>
                </a:solidFill>
                <a:latin typeface="Calibri"/>
              </a:rPr>
              <a:t>354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95935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B9C6CE"/>
                </a:solidFill>
                <a:latin typeface="Calibri"/>
              </a:rPr>
              <a:t>stations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361188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01A88D"/>
                </a:solidFill>
                <a:latin typeface="Calibri"/>
              </a:rPr>
              <a:t>4.5 yr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395935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B9C6CE"/>
                </a:solidFill>
                <a:latin typeface="Calibri"/>
              </a:rPr>
              <a:t>window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48056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01A88D"/>
                </a:solidFill>
                <a:latin typeface="Calibri"/>
              </a:rPr>
              <a:t>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82803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B9C6CE"/>
                </a:solidFill>
                <a:latin typeface="Calibri"/>
              </a:rPr>
              <a:t>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448056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01A88D"/>
                </a:solidFill>
                <a:latin typeface="Calibri"/>
              </a:rPr>
              <a:t>8/8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482803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B9C6CE"/>
                </a:solidFill>
                <a:latin typeface="Calibri"/>
              </a:rPr>
              <a:t>gates passed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532120"/>
            <a:ext cx="10515600" cy="20000"/>
          </a:xfrm>
          <a:prstGeom prst="rect">
            <a:avLst/>
          </a:prstGeom>
          <a:solidFill>
            <a:srgbClr val="01A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B9C6CE"/>
                </a:solidFill>
                <a:latin typeface="Calibri"/>
              </a:rPr>
              <a:t>Team 7 · Qianyu Chen · Boxuan Chen · Tong Wu · Caleb Okoh-Aihe        Full report: docs/REPORT.md   ·   Decision log: .claude/decisions.md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5508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C74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